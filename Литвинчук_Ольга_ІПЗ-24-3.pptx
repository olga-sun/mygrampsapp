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60" r:id="rId4"/>
    <p:sldId id="259" r:id="rId5"/>
    <p:sldId id="261" r:id="rId6"/>
    <p:sldId id="263" r:id="rId7"/>
    <p:sldId id="264" r:id="rId8"/>
    <p:sldId id="257" r:id="rId9"/>
    <p:sldId id="265" r:id="rId10"/>
  </p:sldIdLst>
  <p:sldSz cx="12192000" cy="6858000"/>
  <p:notesSz cx="6858000" cy="9144000"/>
  <p:defaultTextStyle>
    <a:defPPr>
      <a:defRPr lang="uk-UA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Помірний стиль 2 –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Помірний стиль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2" autoAdjust="0"/>
    <p:restoredTop sz="94680" autoAdjust="0"/>
  </p:normalViewPr>
  <p:slideViewPr>
    <p:cSldViewPr snapToGrid="0">
      <p:cViewPr varScale="1">
        <p:scale>
          <a:sx n="83" d="100"/>
          <a:sy n="83" d="100"/>
        </p:scale>
        <p:origin x="-629" y="-77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Рисунок 9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Місце для заголовка 1"/>
          <p:cNvSpPr>
            <a:spLocks noGrp="1"/>
          </p:cNvSpPr>
          <p:nvPr>
            <p:ph type="title"/>
          </p:nvPr>
        </p:nvSpPr>
        <p:spPr>
          <a:xfrm>
            <a:off x="334962" y="1992473"/>
            <a:ext cx="11522075" cy="319055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5400">
                <a:solidFill>
                  <a:schemeClr val="bg1"/>
                </a:solidFill>
              </a:defRPr>
            </a:lvl1pPr>
          </a:lstStyle>
          <a:p>
            <a:r>
              <a:rPr lang="uk-UA" dirty="0" smtClean="0"/>
              <a:t>Зразок заголовка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7759047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Основн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8707"/>
            <a:ext cx="12192000" cy="6858000"/>
          </a:xfrm>
          <a:prstGeom prst="rect">
            <a:avLst/>
          </a:prstGeom>
        </p:spPr>
      </p:pic>
      <p:sp>
        <p:nvSpPr>
          <p:cNvPr id="7" name="Місце для заголовка 1"/>
          <p:cNvSpPr>
            <a:spLocks noGrp="1"/>
          </p:cNvSpPr>
          <p:nvPr>
            <p:ph type="title"/>
          </p:nvPr>
        </p:nvSpPr>
        <p:spPr>
          <a:xfrm>
            <a:off x="334961" y="188914"/>
            <a:ext cx="11522075" cy="140510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uk-UA" dirty="0" smtClean="0"/>
              <a:t>Зразок заголовка</a:t>
            </a:r>
            <a:endParaRPr lang="uk-UA" dirty="0"/>
          </a:p>
        </p:txBody>
      </p:sp>
      <p:sp>
        <p:nvSpPr>
          <p:cNvPr id="5" name="Місце для тексту 4"/>
          <p:cNvSpPr>
            <a:spLocks noGrp="1"/>
          </p:cNvSpPr>
          <p:nvPr>
            <p:ph type="body" sz="quarter" idx="10"/>
          </p:nvPr>
        </p:nvSpPr>
        <p:spPr>
          <a:xfrm>
            <a:off x="334963" y="1593850"/>
            <a:ext cx="11522075" cy="4176713"/>
          </a:xfrm>
          <a:prstGeom prst="rect">
            <a:avLst/>
          </a:prstGeom>
        </p:spPr>
        <p:txBody>
          <a:bodyPr/>
          <a:lstStyle>
            <a:lvl1pPr>
              <a:defRPr sz="3600" b="1"/>
            </a:lvl1pPr>
          </a:lstStyle>
          <a:p>
            <a:pPr lvl="0"/>
            <a:r>
              <a:rPr lang="uk-UA" dirty="0" smtClean="0"/>
              <a:t>Зразок тексту</a:t>
            </a:r>
          </a:p>
          <a:p>
            <a:pPr lvl="1"/>
            <a:r>
              <a:rPr lang="uk-UA" dirty="0" smtClean="0"/>
              <a:t>Другий рівень</a:t>
            </a:r>
          </a:p>
        </p:txBody>
      </p:sp>
    </p:spTree>
    <p:extLst>
      <p:ext uri="{BB962C8B-B14F-4D97-AF65-F5344CB8AC3E}">
        <p14:creationId xmlns:p14="http://schemas.microsoft.com/office/powerpoint/2010/main" val="25639521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Основний слайд з вмісто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8707"/>
            <a:ext cx="12192000" cy="6858000"/>
          </a:xfrm>
          <a:prstGeom prst="rect">
            <a:avLst/>
          </a:prstGeom>
        </p:spPr>
      </p:pic>
      <p:sp>
        <p:nvSpPr>
          <p:cNvPr id="4" name="Місце для вмісту 3"/>
          <p:cNvSpPr>
            <a:spLocks noGrp="1"/>
          </p:cNvSpPr>
          <p:nvPr>
            <p:ph sz="quarter" idx="10"/>
          </p:nvPr>
        </p:nvSpPr>
        <p:spPr>
          <a:xfrm>
            <a:off x="334963" y="188913"/>
            <a:ext cx="11522075" cy="5578475"/>
          </a:xfrm>
          <a:prstGeom prst="rect">
            <a:avLst/>
          </a:prstGeom>
        </p:spPr>
        <p:txBody>
          <a:bodyPr/>
          <a:lstStyle>
            <a:lvl1pPr>
              <a:defRPr sz="3200" b="1"/>
            </a:lvl1pPr>
          </a:lstStyle>
          <a:p>
            <a:pPr lvl="0"/>
            <a:r>
              <a:rPr lang="uk-UA" dirty="0" smtClean="0"/>
              <a:t>Зразок тексту</a:t>
            </a:r>
          </a:p>
          <a:p>
            <a:pPr lvl="1"/>
            <a:r>
              <a:rPr lang="uk-UA" dirty="0" smtClean="0"/>
              <a:t>Другий рівень</a:t>
            </a:r>
          </a:p>
        </p:txBody>
      </p:sp>
    </p:spTree>
    <p:extLst>
      <p:ext uri="{BB962C8B-B14F-4D97-AF65-F5344CB8AC3E}">
        <p14:creationId xmlns:p14="http://schemas.microsoft.com/office/powerpoint/2010/main" val="31929274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ФІнальн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22219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47899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3" r:id="rId3"/>
    <p:sldLayoutId id="2147483661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5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uk-UA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 xmlns="">
        <p15:guide id="1" orient="horz" pos="119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211" userDrawn="1">
          <p15:clr>
            <a:srgbClr val="F26B43"/>
          </p15:clr>
        </p15:guide>
        <p15:guide id="4" pos="7469" userDrawn="1">
          <p15:clr>
            <a:srgbClr val="F26B43"/>
          </p15:clr>
        </p15:guide>
        <p15:guide id="5" orient="horz" pos="2260" userDrawn="1">
          <p15:clr>
            <a:srgbClr val="F26B43"/>
          </p15:clr>
        </p15:guide>
        <p15:guide id="6" orient="horz" pos="374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89282" y="1114288"/>
            <a:ext cx="11522075" cy="1764714"/>
          </a:xfrm>
        </p:spPr>
        <p:txBody>
          <a:bodyPr/>
          <a:lstStyle/>
          <a:p>
            <a:r>
              <a:rPr lang="uk-UA" dirty="0" smtClean="0"/>
              <a:t>База даних родинного дерева</a:t>
            </a:r>
            <a:endParaRPr lang="ru-RU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6699564" y="2586531"/>
            <a:ext cx="471685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err="1">
                <a:solidFill>
                  <a:schemeClr val="tx2"/>
                </a:solidFill>
              </a:rPr>
              <a:t>Підготувала</a:t>
            </a:r>
            <a:r>
              <a:rPr lang="ru-RU" dirty="0">
                <a:solidFill>
                  <a:schemeClr val="tx2"/>
                </a:solidFill>
              </a:rPr>
              <a:t> студентка </a:t>
            </a:r>
            <a:r>
              <a:rPr lang="ru-RU" dirty="0" err="1">
                <a:solidFill>
                  <a:schemeClr val="tx2"/>
                </a:solidFill>
              </a:rPr>
              <a:t>групи</a:t>
            </a:r>
            <a:r>
              <a:rPr lang="ru-RU" dirty="0">
                <a:solidFill>
                  <a:schemeClr val="tx2"/>
                </a:solidFill>
              </a:rPr>
              <a:t> ІПЗ-24-3 </a:t>
            </a:r>
            <a:r>
              <a:rPr lang="ru-RU" dirty="0" err="1" smtClean="0">
                <a:solidFill>
                  <a:schemeClr val="tx2"/>
                </a:solidFill>
              </a:rPr>
              <a:t>Литвинчук</a:t>
            </a:r>
            <a:r>
              <a:rPr lang="ru-RU" dirty="0" smtClean="0">
                <a:solidFill>
                  <a:schemeClr val="tx2"/>
                </a:solidFill>
              </a:rPr>
              <a:t> Ольга</a:t>
            </a:r>
            <a:endParaRPr lang="ru-RU" dirty="0">
              <a:solidFill>
                <a:schemeClr val="tx2"/>
              </a:solidFill>
              <a:effectLst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6859508" y="3444844"/>
            <a:ext cx="3877902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err="1">
                <a:solidFill>
                  <a:schemeClr val="tx2"/>
                </a:solidFill>
              </a:rPr>
              <a:t>Керівник</a:t>
            </a:r>
            <a:r>
              <a:rPr lang="ru-RU" dirty="0">
                <a:solidFill>
                  <a:schemeClr val="tx2"/>
                </a:solidFill>
              </a:rPr>
              <a:t>:</a:t>
            </a:r>
          </a:p>
          <a:p>
            <a:r>
              <a:rPr lang="ru-RU" dirty="0" err="1">
                <a:solidFill>
                  <a:schemeClr val="tx2"/>
                </a:solidFill>
              </a:rPr>
              <a:t>викладач</a:t>
            </a:r>
            <a:r>
              <a:rPr lang="ru-RU" dirty="0">
                <a:solidFill>
                  <a:schemeClr val="tx2"/>
                </a:solidFill>
              </a:rPr>
              <a:t> - практик </a:t>
            </a:r>
            <a:r>
              <a:rPr lang="ru-RU" dirty="0" err="1">
                <a:solidFill>
                  <a:schemeClr val="tx2"/>
                </a:solidFill>
              </a:rPr>
              <a:t>кафедри</a:t>
            </a:r>
            <a:r>
              <a:rPr lang="ru-RU" dirty="0">
                <a:solidFill>
                  <a:schemeClr val="tx2"/>
                </a:solidFill>
              </a:rPr>
              <a:t> ІПЗ</a:t>
            </a:r>
          </a:p>
          <a:p>
            <a:r>
              <a:rPr lang="ru-RU" dirty="0">
                <a:solidFill>
                  <a:schemeClr val="tx2"/>
                </a:solidFill>
              </a:rPr>
              <a:t>Олег ТАЛАВЕР</a:t>
            </a:r>
          </a:p>
        </p:txBody>
      </p:sp>
    </p:spTree>
    <p:extLst>
      <p:ext uri="{BB962C8B-B14F-4D97-AF65-F5344CB8AC3E}">
        <p14:creationId xmlns:p14="http://schemas.microsoft.com/office/powerpoint/2010/main" val="4380775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МЕТА, ОБ’ЄКТ, ПРЕДМЕТ ДОСЛІДЖЕННЯ</a:t>
            </a:r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sz="2400" dirty="0"/>
              <a:t>Предмет </a:t>
            </a:r>
            <a:r>
              <a:rPr lang="ru-RU" sz="2400" dirty="0" err="1"/>
              <a:t>дослідження</a:t>
            </a:r>
            <a:r>
              <a:rPr lang="ru-RU" sz="2400" dirty="0"/>
              <a:t> є </a:t>
            </a:r>
            <a:r>
              <a:rPr lang="ru-RU" sz="2400" dirty="0" err="1"/>
              <a:t>методи</a:t>
            </a:r>
            <a:r>
              <a:rPr lang="ru-RU" sz="2400" dirty="0"/>
              <a:t> та </a:t>
            </a:r>
            <a:r>
              <a:rPr lang="ru-RU" sz="2400" dirty="0" err="1"/>
              <a:t>програмні</a:t>
            </a:r>
            <a:r>
              <a:rPr lang="ru-RU" sz="2400" dirty="0"/>
              <a:t> </a:t>
            </a:r>
            <a:r>
              <a:rPr lang="ru-RU" sz="2400" dirty="0" err="1"/>
              <a:t>засоби</a:t>
            </a:r>
            <a:r>
              <a:rPr lang="ru-RU" sz="2400" dirty="0"/>
              <a:t> СУБД </a:t>
            </a:r>
            <a:r>
              <a:rPr lang="ru-RU" sz="2400" dirty="0" err="1"/>
              <a:t>Microsoft</a:t>
            </a:r>
            <a:r>
              <a:rPr lang="ru-RU" sz="2400" dirty="0"/>
              <a:t> SQL </a:t>
            </a:r>
            <a:r>
              <a:rPr lang="ru-RU" sz="2400" dirty="0" err="1"/>
              <a:t>Server</a:t>
            </a:r>
            <a:r>
              <a:rPr lang="ru-RU" sz="2400" dirty="0"/>
              <a:t> для </a:t>
            </a:r>
            <a:r>
              <a:rPr lang="ru-RU" sz="2400" dirty="0" err="1"/>
              <a:t>організації</a:t>
            </a:r>
            <a:r>
              <a:rPr lang="ru-RU" sz="2400" dirty="0"/>
              <a:t> </a:t>
            </a:r>
            <a:r>
              <a:rPr lang="ru-RU" sz="2400" dirty="0" err="1"/>
              <a:t>генеалогічних</a:t>
            </a:r>
            <a:r>
              <a:rPr lang="ru-RU" sz="2400" dirty="0"/>
              <a:t> </a:t>
            </a:r>
            <a:r>
              <a:rPr lang="ru-RU" sz="2400" dirty="0" err="1"/>
              <a:t>даних</a:t>
            </a:r>
            <a:r>
              <a:rPr lang="ru-RU" sz="2400" dirty="0"/>
              <a:t>, </a:t>
            </a:r>
            <a:r>
              <a:rPr lang="ru-RU" sz="2400" dirty="0" err="1"/>
              <a:t>включаючи</a:t>
            </a:r>
            <a:r>
              <a:rPr lang="ru-RU" sz="2400" dirty="0"/>
              <a:t> </a:t>
            </a:r>
            <a:r>
              <a:rPr lang="ru-RU" sz="2400" dirty="0" err="1"/>
              <a:t>механізми</a:t>
            </a:r>
            <a:r>
              <a:rPr lang="ru-RU" sz="2400" dirty="0"/>
              <a:t> </a:t>
            </a:r>
            <a:r>
              <a:rPr lang="ru-RU" sz="2400" dirty="0" err="1"/>
              <a:t>встановлення</a:t>
            </a:r>
            <a:r>
              <a:rPr lang="ru-RU" sz="2400" dirty="0"/>
              <a:t> </a:t>
            </a:r>
            <a:r>
              <a:rPr lang="ru-RU" sz="2400" dirty="0" err="1"/>
              <a:t>ієрархічних</a:t>
            </a:r>
            <a:r>
              <a:rPr lang="ru-RU" sz="2400" dirty="0"/>
              <a:t> </a:t>
            </a:r>
            <a:r>
              <a:rPr lang="ru-RU" sz="2400" dirty="0" err="1"/>
              <a:t>зв’язків</a:t>
            </a:r>
            <a:r>
              <a:rPr lang="ru-RU" sz="2400" dirty="0"/>
              <a:t>, </a:t>
            </a:r>
            <a:r>
              <a:rPr lang="ru-RU" sz="2400" dirty="0" err="1"/>
              <a:t>облік</a:t>
            </a:r>
            <a:r>
              <a:rPr lang="ru-RU" sz="2400" dirty="0"/>
              <a:t> </a:t>
            </a:r>
            <a:r>
              <a:rPr lang="ru-RU" sz="2400" dirty="0" err="1"/>
              <a:t>професійної</a:t>
            </a:r>
            <a:r>
              <a:rPr lang="ru-RU" sz="2400" dirty="0"/>
              <a:t> </a:t>
            </a:r>
            <a:r>
              <a:rPr lang="ru-RU" sz="2400" dirty="0" err="1"/>
              <a:t>діяльності</a:t>
            </a:r>
            <a:r>
              <a:rPr lang="ru-RU" sz="2400" dirty="0"/>
              <a:t> та </a:t>
            </a:r>
            <a:r>
              <a:rPr lang="ru-RU" sz="2400" dirty="0" err="1"/>
              <a:t>територіального</a:t>
            </a:r>
            <a:r>
              <a:rPr lang="ru-RU" sz="2400" dirty="0"/>
              <a:t> </a:t>
            </a:r>
            <a:r>
              <a:rPr lang="ru-RU" sz="2400" dirty="0" err="1"/>
              <a:t>розміщення</a:t>
            </a:r>
            <a:r>
              <a:rPr lang="ru-RU" sz="2400" dirty="0"/>
              <a:t> </a:t>
            </a:r>
            <a:r>
              <a:rPr lang="ru-RU" sz="2400" dirty="0" err="1"/>
              <a:t>осіб</a:t>
            </a:r>
            <a:r>
              <a:rPr lang="ru-RU" sz="2400" dirty="0"/>
              <a:t>, а </a:t>
            </a:r>
            <a:r>
              <a:rPr lang="ru-RU" sz="2400" dirty="0" err="1"/>
              <a:t>також</a:t>
            </a:r>
            <a:r>
              <a:rPr lang="ru-RU" sz="2400" dirty="0"/>
              <a:t> </a:t>
            </a:r>
            <a:r>
              <a:rPr lang="ru-RU" sz="2400" dirty="0" err="1"/>
              <a:t>алгоритми</a:t>
            </a:r>
            <a:r>
              <a:rPr lang="ru-RU" sz="2400" dirty="0"/>
              <a:t> </a:t>
            </a:r>
            <a:r>
              <a:rPr lang="ru-RU" sz="2400" dirty="0" err="1"/>
              <a:t>їх</a:t>
            </a:r>
            <a:r>
              <a:rPr lang="ru-RU" sz="2400" dirty="0"/>
              <a:t> </a:t>
            </a:r>
            <a:r>
              <a:rPr lang="ru-RU" sz="2400" dirty="0" err="1"/>
              <a:t>графічної</a:t>
            </a:r>
            <a:r>
              <a:rPr lang="ru-RU" sz="2400" dirty="0"/>
              <a:t> </a:t>
            </a:r>
            <a:r>
              <a:rPr lang="ru-RU" sz="2400" dirty="0" err="1" smtClean="0"/>
              <a:t>візуалізації</a:t>
            </a:r>
            <a:r>
              <a:rPr lang="ru-RU" sz="2400" dirty="0" smtClean="0"/>
              <a:t>.</a:t>
            </a:r>
            <a:endParaRPr lang="uk-UA" sz="2400" dirty="0"/>
          </a:p>
          <a:p>
            <a:r>
              <a:rPr lang="ru-RU" sz="2400" dirty="0" err="1" smtClean="0"/>
              <a:t>Об'єкт</a:t>
            </a:r>
            <a:r>
              <a:rPr lang="ru-RU" sz="2400" dirty="0" smtClean="0"/>
              <a:t> </a:t>
            </a:r>
            <a:r>
              <a:rPr lang="ru-RU" sz="2400" dirty="0" err="1"/>
              <a:t>дослідження</a:t>
            </a:r>
            <a:r>
              <a:rPr lang="ru-RU" sz="2400" dirty="0"/>
              <a:t> є </a:t>
            </a:r>
            <a:r>
              <a:rPr lang="ru-RU" sz="2400" dirty="0" err="1"/>
              <a:t>методи</a:t>
            </a:r>
            <a:r>
              <a:rPr lang="ru-RU" sz="2400" dirty="0"/>
              <a:t> та </a:t>
            </a:r>
            <a:r>
              <a:rPr lang="ru-RU" sz="2400" dirty="0" err="1"/>
              <a:t>засоби</a:t>
            </a:r>
            <a:r>
              <a:rPr lang="ru-RU" sz="2400" dirty="0"/>
              <a:t> </a:t>
            </a:r>
            <a:r>
              <a:rPr lang="ru-RU" sz="2400" dirty="0" err="1"/>
              <a:t>проектування</a:t>
            </a:r>
            <a:r>
              <a:rPr lang="ru-RU" sz="2400" dirty="0"/>
              <a:t> баз </a:t>
            </a:r>
            <a:r>
              <a:rPr lang="ru-RU" sz="2400" dirty="0" err="1"/>
              <a:t>даних</a:t>
            </a:r>
            <a:r>
              <a:rPr lang="ru-RU" sz="2400" dirty="0"/>
              <a:t> за </a:t>
            </a:r>
            <a:r>
              <a:rPr lang="ru-RU" sz="2400" dirty="0" err="1"/>
              <a:t>визначеною</a:t>
            </a:r>
            <a:r>
              <a:rPr lang="ru-RU" sz="2400" dirty="0"/>
              <a:t> предметною </a:t>
            </a:r>
            <a:r>
              <a:rPr lang="ru-RU" sz="2400" dirty="0" err="1"/>
              <a:t>областю</a:t>
            </a:r>
            <a:r>
              <a:rPr lang="ru-RU" sz="2400" dirty="0"/>
              <a:t> "</a:t>
            </a:r>
            <a:r>
              <a:rPr lang="ru-RU" sz="2400" dirty="0" err="1"/>
              <a:t>Родинне</a:t>
            </a:r>
            <a:r>
              <a:rPr lang="ru-RU" sz="2400" dirty="0"/>
              <a:t> дерево</a:t>
            </a:r>
            <a:r>
              <a:rPr lang="ru-RU" sz="2400" dirty="0" smtClean="0"/>
              <a:t>".</a:t>
            </a:r>
          </a:p>
          <a:p>
            <a:r>
              <a:rPr lang="uk-UA" sz="2400" dirty="0"/>
              <a:t>Метою роботи є проектування та реалізація бази даних для систематизації та інтерактивної візуалізації інформації про родинне дерево з використанням СУБД </a:t>
            </a:r>
            <a:r>
              <a:rPr lang="ru-RU" sz="2400" dirty="0" err="1"/>
              <a:t>Microsoft</a:t>
            </a:r>
            <a:r>
              <a:rPr lang="ru-RU" sz="2400" dirty="0"/>
              <a:t> SQL </a:t>
            </a:r>
            <a:r>
              <a:rPr lang="ru-RU" sz="2400" dirty="0" err="1"/>
              <a:t>Server</a:t>
            </a:r>
            <a:r>
              <a:rPr lang="uk-UA" sz="2400" dirty="0"/>
              <a:t> та розробка клієнтського додатку на базі </a:t>
            </a:r>
            <a:r>
              <a:rPr lang="ru-RU" sz="2400" dirty="0"/>
              <a:t>WPF</a:t>
            </a:r>
            <a:r>
              <a:rPr lang="uk-UA" sz="2400" dirty="0"/>
              <a:t>.</a:t>
            </a:r>
            <a:endParaRPr lang="ru-RU" sz="2400" dirty="0"/>
          </a:p>
          <a:p>
            <a:endParaRPr lang="ru-RU" sz="2400" dirty="0"/>
          </a:p>
          <a:p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36056075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uk-UA" sz="4400" dirty="0"/>
              <a:t>АКТУАЛЬНІСТЬ ТЕМИ</a:t>
            </a:r>
            <a:endParaRPr lang="ru-RU" sz="4400" dirty="0"/>
          </a:p>
        </p:txBody>
      </p:sp>
      <p:sp>
        <p:nvSpPr>
          <p:cNvPr id="3" name="Текст 2"/>
          <p:cNvSpPr>
            <a:spLocks noGrp="1"/>
          </p:cNvSpPr>
          <p:nvPr>
            <p:ph type="body" sz="quarter" idx="10"/>
          </p:nvPr>
        </p:nvSpPr>
        <p:spPr>
          <a:xfrm>
            <a:off x="321315" y="1383811"/>
            <a:ext cx="11522075" cy="4176713"/>
          </a:xfrm>
        </p:spPr>
        <p:txBody>
          <a:bodyPr/>
          <a:lstStyle/>
          <a:p>
            <a:r>
              <a:rPr lang="uk-UA" sz="2400" dirty="0"/>
              <a:t>В сучасному світі </a:t>
            </a:r>
            <a:r>
              <a:rPr lang="uk-UA" sz="2400" dirty="0" err="1"/>
              <a:t>цифровізація</a:t>
            </a:r>
            <a:r>
              <a:rPr lang="uk-UA" sz="2400" dirty="0"/>
              <a:t> генеалогічних даних дозволяє не лише структурувати складні родинні зв’язки та професійну діяльність поколінь, а й забезпечити їх збереження у єдиній системі. Необхідність переходу від табличного представлення до автоматизованої ієрархічної візуалізації та створення надійних цифрових архівів першоджерел зумовлює вибір теми дослідження.</a:t>
            </a:r>
            <a:endParaRPr lang="ru-RU" sz="2400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099839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 smtClean="0"/>
              <a:t>ВИКОРИСТАНІ ТЕХНОЛОГІЇ</a:t>
            </a:r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sz="quarter" idx="10"/>
          </p:nvPr>
        </p:nvSpPr>
        <p:spPr>
          <a:xfrm>
            <a:off x="6005607" y="950455"/>
            <a:ext cx="6113605" cy="4330724"/>
          </a:xfrm>
        </p:spPr>
        <p:txBody>
          <a:bodyPr/>
          <a:lstStyle/>
          <a:p>
            <a:r>
              <a:rPr lang="ru-RU" sz="2000" b="0" dirty="0" err="1"/>
              <a:t>Мова</a:t>
            </a:r>
            <a:r>
              <a:rPr lang="ru-RU" sz="2000" b="0" dirty="0"/>
              <a:t> </a:t>
            </a:r>
            <a:r>
              <a:rPr lang="ru-RU" sz="2000" b="0" dirty="0" err="1"/>
              <a:t>програмування</a:t>
            </a:r>
            <a:r>
              <a:rPr lang="ru-RU" sz="2000" b="0" dirty="0"/>
              <a:t>: </a:t>
            </a:r>
            <a:r>
              <a:rPr lang="en-US" sz="2000" b="0" dirty="0"/>
              <a:t>C# (.NET 8.0) </a:t>
            </a:r>
            <a:r>
              <a:rPr lang="ru-RU" sz="2000" b="0" dirty="0" err="1"/>
              <a:t>р</a:t>
            </a:r>
            <a:r>
              <a:rPr lang="ru-RU" sz="2000" b="0" dirty="0" err="1" smtClean="0"/>
              <a:t>озробка</a:t>
            </a:r>
            <a:r>
              <a:rPr lang="ru-RU" sz="2000" b="0" dirty="0" smtClean="0"/>
              <a:t> </a:t>
            </a:r>
            <a:r>
              <a:rPr lang="ru-RU" sz="2000" b="0" dirty="0" err="1"/>
              <a:t>логіки</a:t>
            </a:r>
            <a:r>
              <a:rPr lang="ru-RU" sz="2000" b="0" dirty="0"/>
              <a:t> </a:t>
            </a:r>
            <a:r>
              <a:rPr lang="ru-RU" sz="2000" b="0" dirty="0" err="1"/>
              <a:t>додатка</a:t>
            </a:r>
            <a:r>
              <a:rPr lang="ru-RU" sz="2000" b="0" dirty="0"/>
              <a:t> та </a:t>
            </a:r>
            <a:r>
              <a:rPr lang="ru-RU" sz="2000" b="0" dirty="0" err="1"/>
              <a:t>обробка</a:t>
            </a:r>
            <a:r>
              <a:rPr lang="ru-RU" sz="2000" b="0" dirty="0"/>
              <a:t> </a:t>
            </a:r>
            <a:r>
              <a:rPr lang="ru-RU" sz="2000" b="0" dirty="0" err="1"/>
              <a:t>даних</a:t>
            </a:r>
            <a:r>
              <a:rPr lang="ru-RU" sz="2000" b="0" dirty="0" smtClean="0"/>
              <a:t>.</a:t>
            </a:r>
            <a:endParaRPr lang="ru-RU" sz="2000" b="0" dirty="0" smtClean="0"/>
          </a:p>
          <a:p>
            <a:r>
              <a:rPr lang="ru-RU" sz="2000" b="0" dirty="0" err="1" smtClean="0"/>
              <a:t>Графічний</a:t>
            </a:r>
            <a:r>
              <a:rPr lang="ru-RU" sz="2000" b="0" dirty="0" smtClean="0"/>
              <a:t> </a:t>
            </a:r>
            <a:r>
              <a:rPr lang="ru-RU" sz="2000" b="0" dirty="0" err="1"/>
              <a:t>інтерфейс</a:t>
            </a:r>
            <a:r>
              <a:rPr lang="ru-RU" sz="2000" b="0" dirty="0"/>
              <a:t>: </a:t>
            </a:r>
            <a:r>
              <a:rPr lang="en-US" sz="2000" b="0" dirty="0"/>
              <a:t>WPF (Windows Presentation Foundation) — </a:t>
            </a:r>
            <a:r>
              <a:rPr lang="ru-RU" sz="2000" b="0" dirty="0" err="1" smtClean="0"/>
              <a:t>п</a:t>
            </a:r>
            <a:r>
              <a:rPr lang="ru-RU" sz="2000" b="0" dirty="0" err="1" smtClean="0"/>
              <a:t>обудова</a:t>
            </a:r>
            <a:r>
              <a:rPr lang="ru-RU" sz="2000" b="0" dirty="0" smtClean="0"/>
              <a:t> </a:t>
            </a:r>
            <a:r>
              <a:rPr lang="ru-RU" sz="2000" b="0" dirty="0" err="1"/>
              <a:t>користувацького</a:t>
            </a:r>
            <a:r>
              <a:rPr lang="ru-RU" sz="2000" b="0" dirty="0"/>
              <a:t> </a:t>
            </a:r>
            <a:r>
              <a:rPr lang="ru-RU" sz="2000" b="0" dirty="0" err="1"/>
              <a:t>інтерфейсу</a:t>
            </a:r>
            <a:r>
              <a:rPr lang="en-US" sz="2000" b="0" dirty="0" smtClean="0"/>
              <a:t>.</a:t>
            </a:r>
            <a:endParaRPr lang="uk-UA" sz="2000" b="0" dirty="0" smtClean="0"/>
          </a:p>
          <a:p>
            <a:r>
              <a:rPr lang="ru-RU" sz="2000" b="0" dirty="0" err="1" smtClean="0"/>
              <a:t>Архітектурний</a:t>
            </a:r>
            <a:r>
              <a:rPr lang="ru-RU" sz="2000" b="0" dirty="0" smtClean="0"/>
              <a:t> </a:t>
            </a:r>
            <a:r>
              <a:rPr lang="ru-RU" sz="2000" b="0" dirty="0" err="1"/>
              <a:t>патерн</a:t>
            </a:r>
            <a:r>
              <a:rPr lang="ru-RU" sz="2000" b="0" dirty="0"/>
              <a:t>: </a:t>
            </a:r>
            <a:r>
              <a:rPr lang="en-US" sz="2000" b="0" dirty="0"/>
              <a:t>MVVM — </a:t>
            </a:r>
            <a:r>
              <a:rPr lang="ru-RU" sz="2000" b="0" dirty="0" err="1" smtClean="0"/>
              <a:t>р</a:t>
            </a:r>
            <a:r>
              <a:rPr lang="ru-RU" sz="2000" b="0" dirty="0" err="1" smtClean="0"/>
              <a:t>озмежування</a:t>
            </a:r>
            <a:r>
              <a:rPr lang="ru-RU" sz="2000" b="0" dirty="0" smtClean="0"/>
              <a:t> </a:t>
            </a:r>
            <a:r>
              <a:rPr lang="ru-RU" sz="2000" b="0" dirty="0" err="1"/>
              <a:t>представлення</a:t>
            </a:r>
            <a:r>
              <a:rPr lang="ru-RU" sz="2000" b="0" dirty="0"/>
              <a:t> та </a:t>
            </a:r>
            <a:r>
              <a:rPr lang="ru-RU" sz="2000" b="0" dirty="0" err="1"/>
              <a:t>бізнес-логіки</a:t>
            </a:r>
            <a:r>
              <a:rPr lang="ru-RU" sz="2000" b="0" dirty="0" smtClean="0"/>
              <a:t>.</a:t>
            </a:r>
            <a:endParaRPr lang="ru-RU" sz="2000" b="0" dirty="0" smtClean="0"/>
          </a:p>
          <a:p>
            <a:r>
              <a:rPr lang="ru-RU" sz="2000" b="0" dirty="0" smtClean="0"/>
              <a:t>СУБД</a:t>
            </a:r>
            <a:r>
              <a:rPr lang="ru-RU" sz="2000" b="0" dirty="0"/>
              <a:t>: </a:t>
            </a:r>
            <a:r>
              <a:rPr lang="en-US" sz="2000" b="0" dirty="0"/>
              <a:t>Microsoft SQL Server — </a:t>
            </a:r>
            <a:r>
              <a:rPr lang="ru-RU" sz="2000" b="0" dirty="0" err="1" smtClean="0"/>
              <a:t>з</a:t>
            </a:r>
            <a:r>
              <a:rPr lang="ru-RU" sz="2000" b="0" dirty="0" err="1" smtClean="0"/>
              <a:t>берігання</a:t>
            </a:r>
            <a:r>
              <a:rPr lang="ru-RU" sz="2000" b="0" dirty="0" smtClean="0"/>
              <a:t> </a:t>
            </a:r>
            <a:r>
              <a:rPr lang="ru-RU" sz="2000" b="0" dirty="0"/>
              <a:t>та </a:t>
            </a:r>
            <a:r>
              <a:rPr lang="ru-RU" sz="2000" b="0" dirty="0" err="1"/>
              <a:t>організація</a:t>
            </a:r>
            <a:r>
              <a:rPr lang="ru-RU" sz="2000" b="0" dirty="0"/>
              <a:t> </a:t>
            </a:r>
            <a:r>
              <a:rPr lang="ru-RU" sz="2000" b="0" dirty="0" err="1"/>
              <a:t>генеалогічних</a:t>
            </a:r>
            <a:r>
              <a:rPr lang="ru-RU" sz="2000" b="0" dirty="0"/>
              <a:t> </a:t>
            </a:r>
            <a:r>
              <a:rPr lang="ru-RU" sz="2000" b="0" dirty="0" err="1"/>
              <a:t>даних</a:t>
            </a:r>
            <a:r>
              <a:rPr lang="ru-RU" sz="2000" b="0" dirty="0" smtClean="0"/>
              <a:t>.</a:t>
            </a:r>
            <a:endParaRPr lang="ru-RU" sz="2000" b="0" dirty="0" smtClean="0"/>
          </a:p>
          <a:p>
            <a:r>
              <a:rPr lang="ru-RU" sz="2000" b="0" dirty="0" smtClean="0"/>
              <a:t>Доступ </a:t>
            </a:r>
            <a:r>
              <a:rPr lang="ru-RU" sz="2000" b="0" dirty="0"/>
              <a:t>до </a:t>
            </a:r>
            <a:r>
              <a:rPr lang="ru-RU" sz="2000" b="0" dirty="0" err="1"/>
              <a:t>даних</a:t>
            </a:r>
            <a:r>
              <a:rPr lang="ru-RU" sz="2000" b="0" dirty="0"/>
              <a:t>: </a:t>
            </a:r>
            <a:r>
              <a:rPr lang="en-US" sz="2000" b="0" dirty="0" err="1"/>
              <a:t>Microsoft.Data.SqlClient</a:t>
            </a:r>
            <a:r>
              <a:rPr lang="en-US" sz="2000" b="0" dirty="0"/>
              <a:t> (v 6.1.4) — </a:t>
            </a:r>
            <a:r>
              <a:rPr lang="ru-RU" sz="2000" b="0" dirty="0" err="1" smtClean="0"/>
              <a:t>в</a:t>
            </a:r>
            <a:r>
              <a:rPr lang="ru-RU" sz="2000" b="0" dirty="0" err="1" smtClean="0"/>
              <a:t>заємодія</a:t>
            </a:r>
            <a:r>
              <a:rPr lang="ru-RU" sz="2000" b="0" dirty="0" smtClean="0"/>
              <a:t> </a:t>
            </a:r>
            <a:r>
              <a:rPr lang="ru-RU" sz="2000" b="0" dirty="0" err="1"/>
              <a:t>додатка</a:t>
            </a:r>
            <a:r>
              <a:rPr lang="ru-RU" sz="2000" b="0" dirty="0"/>
              <a:t> з базою </a:t>
            </a:r>
            <a:r>
              <a:rPr lang="ru-RU" sz="2000" b="0" dirty="0" err="1"/>
              <a:t>даних</a:t>
            </a:r>
            <a:r>
              <a:rPr lang="ru-RU" sz="2000" b="0" dirty="0"/>
              <a:t> </a:t>
            </a:r>
            <a:r>
              <a:rPr lang="en-US" sz="2000" b="0" dirty="0"/>
              <a:t>SQL Server</a:t>
            </a:r>
            <a:r>
              <a:rPr lang="ru-RU" sz="2000" b="0" dirty="0" smtClean="0"/>
              <a:t>.</a:t>
            </a:r>
            <a:endParaRPr lang="ru-RU" sz="2000" b="0" dirty="0" smtClean="0"/>
          </a:p>
          <a:p>
            <a:r>
              <a:rPr lang="ru-RU" sz="2000" b="0" dirty="0" err="1" smtClean="0"/>
              <a:t>Логіка</a:t>
            </a:r>
            <a:r>
              <a:rPr lang="ru-RU" sz="2000" b="0" dirty="0" smtClean="0"/>
              <a:t> </a:t>
            </a:r>
            <a:r>
              <a:rPr lang="ru-RU" sz="2000" b="0" dirty="0"/>
              <a:t>на </a:t>
            </a:r>
            <a:r>
              <a:rPr lang="ru-RU" sz="2000" b="0" dirty="0" err="1"/>
              <a:t>стороні</a:t>
            </a:r>
            <a:r>
              <a:rPr lang="ru-RU" sz="2000" b="0" dirty="0"/>
              <a:t> БД: </a:t>
            </a:r>
            <a:r>
              <a:rPr lang="en-US" sz="2000" b="0" dirty="0"/>
              <a:t>T-SQL Triggers — </a:t>
            </a:r>
            <a:r>
              <a:rPr lang="uk-UA" sz="2000" b="0" dirty="0" smtClean="0"/>
              <a:t>к</a:t>
            </a:r>
            <a:r>
              <a:rPr lang="ru-RU" sz="2000" b="0" dirty="0" err="1" smtClean="0"/>
              <a:t>онтроль</a:t>
            </a:r>
            <a:r>
              <a:rPr lang="ru-RU" sz="2000" b="0" dirty="0" smtClean="0"/>
              <a:t> </a:t>
            </a:r>
            <a:r>
              <a:rPr lang="ru-RU" sz="2000" b="0" dirty="0" err="1"/>
              <a:t>цілісності</a:t>
            </a:r>
            <a:r>
              <a:rPr lang="ru-RU" sz="2000" b="0" dirty="0"/>
              <a:t> </a:t>
            </a:r>
            <a:r>
              <a:rPr lang="ru-RU" sz="2000" b="0" dirty="0" err="1"/>
              <a:t>родинних</a:t>
            </a:r>
            <a:r>
              <a:rPr lang="ru-RU" sz="2000" b="0" dirty="0"/>
              <a:t> </a:t>
            </a:r>
            <a:r>
              <a:rPr lang="ru-RU" sz="2000" b="0" dirty="0" err="1"/>
              <a:t>зв'язків</a:t>
            </a:r>
            <a:r>
              <a:rPr lang="ru-RU" sz="2000" b="0" dirty="0"/>
              <a:t> через </a:t>
            </a:r>
            <a:r>
              <a:rPr lang="ru-RU" sz="2000" b="0" dirty="0" err="1"/>
              <a:t>тригери</a:t>
            </a:r>
            <a:r>
              <a:rPr lang="ru-RU" sz="2000" b="0" dirty="0" smtClean="0"/>
              <a:t>.</a:t>
            </a:r>
            <a:endParaRPr lang="ru-RU" sz="2000" b="0" dirty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23770" y="3190104"/>
            <a:ext cx="2686050" cy="1695450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7333" y="3141667"/>
            <a:ext cx="2328179" cy="1743887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5512" y="1225677"/>
            <a:ext cx="2374308" cy="1319621"/>
          </a:xfrm>
          <a:prstGeom prst="rect">
            <a:avLst/>
          </a:prstGeom>
        </p:spPr>
      </p:pic>
      <p:sp>
        <p:nvSpPr>
          <p:cNvPr id="8" name="AutoShape 3" descr="Основы работы с MSSQL | Рег.ру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9" name="Рисунок 8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922" y="1006058"/>
            <a:ext cx="1897380" cy="1539240"/>
          </a:xfrm>
          <a:prstGeom prst="rect">
            <a:avLst/>
          </a:prstGeom>
        </p:spPr>
      </p:pic>
      <p:sp>
        <p:nvSpPr>
          <p:cNvPr id="10" name="Прямоугольник 9"/>
          <p:cNvSpPr/>
          <p:nvPr/>
        </p:nvSpPr>
        <p:spPr>
          <a:xfrm>
            <a:off x="252511" y="2677538"/>
            <a:ext cx="383951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err="1"/>
              <a:t>Microsoft.Data.SqlClient</a:t>
            </a:r>
            <a:r>
              <a:rPr lang="en-US" b="1" dirty="0"/>
              <a:t> (v 6.1.4)</a:t>
            </a:r>
            <a:r>
              <a:rPr lang="en-US" dirty="0"/>
              <a:t> 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97450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 smtClean="0"/>
              <a:t>АНАЛІЗ АНАЛОГІВ</a:t>
            </a:r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sz="quarter" idx="10"/>
          </p:nvPr>
        </p:nvSpPr>
        <p:spPr>
          <a:xfrm>
            <a:off x="325819" y="1045211"/>
            <a:ext cx="3624389" cy="792734"/>
          </a:xfrm>
        </p:spPr>
        <p:txBody>
          <a:bodyPr/>
          <a:lstStyle/>
          <a:p>
            <a:r>
              <a:rPr lang="ru-RU" dirty="0" err="1"/>
              <a:t>MyHeritage</a:t>
            </a:r>
            <a:r>
              <a:rPr lang="ru-RU" dirty="0"/>
              <a:t> </a:t>
            </a:r>
          </a:p>
          <a:p>
            <a:endParaRPr lang="ru-RU" dirty="0"/>
          </a:p>
        </p:txBody>
      </p:sp>
      <p:pic>
        <p:nvPicPr>
          <p:cNvPr id="4" name="Рисунок 3"/>
          <p:cNvPicPr/>
          <p:nvPr/>
        </p:nvPicPr>
        <p:blipFill>
          <a:blip r:embed="rId2"/>
          <a:stretch>
            <a:fillRect/>
          </a:stretch>
        </p:blipFill>
        <p:spPr>
          <a:xfrm>
            <a:off x="7154944" y="777985"/>
            <a:ext cx="4864231" cy="2951961"/>
          </a:xfrm>
          <a:prstGeom prst="rect">
            <a:avLst/>
          </a:prstGeom>
        </p:spPr>
      </p:pic>
      <p:sp>
        <p:nvSpPr>
          <p:cNvPr id="7" name="Прямоугольник 6"/>
          <p:cNvSpPr/>
          <p:nvPr/>
        </p:nvSpPr>
        <p:spPr>
          <a:xfrm>
            <a:off x="362273" y="1637067"/>
            <a:ext cx="6981207" cy="41857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400" b="1" dirty="0" err="1" smtClean="0"/>
              <a:t>Плюси</a:t>
            </a:r>
            <a:r>
              <a:rPr lang="ru-RU" sz="1400" b="1" dirty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b="1" dirty="0" err="1" smtClean="0"/>
              <a:t>Можливість</a:t>
            </a:r>
            <a:r>
              <a:rPr lang="ru-RU" sz="1400" b="1" dirty="0" smtClean="0"/>
              <a:t> </a:t>
            </a:r>
            <a:r>
              <a:rPr lang="ru-RU" sz="1400" b="1" dirty="0"/>
              <a:t>автоматичного </a:t>
            </a:r>
            <a:r>
              <a:rPr lang="ru-RU" sz="1400" b="1" dirty="0" err="1"/>
              <a:t>пошуку</a:t>
            </a:r>
            <a:r>
              <a:rPr lang="ru-RU" sz="1400" b="1" dirty="0"/>
              <a:t> </a:t>
            </a:r>
            <a:r>
              <a:rPr lang="ru-RU" sz="1400" b="1" dirty="0" err="1"/>
              <a:t>збігів</a:t>
            </a:r>
            <a:r>
              <a:rPr lang="ru-RU" sz="1400" b="1" dirty="0"/>
              <a:t> </a:t>
            </a:r>
            <a:r>
              <a:rPr lang="ru-RU" sz="1400" b="1" dirty="0" err="1"/>
              <a:t>серед</a:t>
            </a:r>
            <a:r>
              <a:rPr lang="ru-RU" sz="1400" b="1" dirty="0"/>
              <a:t> </a:t>
            </a:r>
            <a:r>
              <a:rPr lang="ru-RU" sz="1400" b="1" dirty="0" err="1"/>
              <a:t>мільйонів</a:t>
            </a:r>
            <a:r>
              <a:rPr lang="ru-RU" sz="1400" b="1" dirty="0"/>
              <a:t> </a:t>
            </a:r>
            <a:r>
              <a:rPr lang="ru-RU" sz="1400" b="1" dirty="0" err="1"/>
              <a:t>інших</a:t>
            </a:r>
            <a:r>
              <a:rPr lang="ru-RU" sz="1400" b="1" dirty="0"/>
              <a:t> </a:t>
            </a:r>
            <a:r>
              <a:rPr lang="ru-RU" sz="1400" b="1" dirty="0" err="1"/>
              <a:t>родоводів</a:t>
            </a:r>
            <a:r>
              <a:rPr lang="ru-RU" sz="1400" b="1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b="1" dirty="0" err="1" smtClean="0"/>
              <a:t>Висока</a:t>
            </a:r>
            <a:r>
              <a:rPr lang="ru-RU" sz="1400" b="1" dirty="0" smtClean="0"/>
              <a:t> </a:t>
            </a:r>
            <a:r>
              <a:rPr lang="ru-RU" sz="1400" b="1" dirty="0" err="1"/>
              <a:t>якість</a:t>
            </a:r>
            <a:r>
              <a:rPr lang="ru-RU" sz="1400" b="1" dirty="0"/>
              <a:t> </a:t>
            </a:r>
            <a:r>
              <a:rPr lang="ru-RU" sz="1400" b="1" dirty="0" err="1"/>
              <a:t>побудови</a:t>
            </a:r>
            <a:r>
              <a:rPr lang="ru-RU" sz="1400" b="1" dirty="0"/>
              <a:t> </a:t>
            </a:r>
            <a:r>
              <a:rPr lang="ru-RU" sz="1400" b="1" dirty="0" err="1"/>
              <a:t>графічних</a:t>
            </a:r>
            <a:r>
              <a:rPr lang="ru-RU" sz="1400" b="1" dirty="0"/>
              <a:t> схем та </a:t>
            </a:r>
            <a:r>
              <a:rPr lang="ru-RU" sz="1400" b="1" dirty="0" err="1"/>
              <a:t>інтерактивних</a:t>
            </a:r>
            <a:r>
              <a:rPr lang="ru-RU" sz="1400" b="1" dirty="0"/>
              <a:t> </a:t>
            </a:r>
            <a:r>
              <a:rPr lang="ru-RU" sz="1400" b="1" dirty="0" err="1"/>
              <a:t>родинних</a:t>
            </a:r>
            <a:r>
              <a:rPr lang="ru-RU" sz="1400" b="1" dirty="0"/>
              <a:t> дерев.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b="1" dirty="0" err="1" smtClean="0"/>
              <a:t>Наявність</a:t>
            </a:r>
            <a:r>
              <a:rPr lang="ru-RU" sz="1400" b="1" dirty="0" smtClean="0"/>
              <a:t> </a:t>
            </a:r>
            <a:r>
              <a:rPr lang="ru-RU" sz="1400" b="1" dirty="0" err="1"/>
              <a:t>інструментів</a:t>
            </a:r>
            <a:r>
              <a:rPr lang="ru-RU" sz="1400" b="1" dirty="0"/>
              <a:t> для </a:t>
            </a:r>
            <a:r>
              <a:rPr lang="ru-RU" sz="1400" b="1" dirty="0" err="1"/>
              <a:t>реставрації</a:t>
            </a:r>
            <a:r>
              <a:rPr lang="ru-RU" sz="1400" b="1" dirty="0"/>
              <a:t> та </a:t>
            </a:r>
            <a:r>
              <a:rPr lang="ru-RU" sz="1400" b="1" dirty="0" err="1"/>
              <a:t>колоризації</a:t>
            </a:r>
            <a:r>
              <a:rPr lang="ru-RU" sz="1400" b="1" dirty="0"/>
              <a:t> </a:t>
            </a:r>
            <a:r>
              <a:rPr lang="ru-RU" sz="1400" b="1" dirty="0" err="1"/>
              <a:t>старих</a:t>
            </a:r>
            <a:r>
              <a:rPr lang="ru-RU" sz="1400" b="1" dirty="0"/>
              <a:t> </a:t>
            </a:r>
            <a:r>
              <a:rPr lang="ru-RU" sz="1400" b="1" dirty="0" err="1"/>
              <a:t>архівних</a:t>
            </a:r>
            <a:r>
              <a:rPr lang="ru-RU" sz="1400" b="1" dirty="0"/>
              <a:t> фото.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b="1" dirty="0" err="1" smtClean="0"/>
              <a:t>Синхронізація</a:t>
            </a:r>
            <a:r>
              <a:rPr lang="ru-RU" sz="1400" b="1" dirty="0" smtClean="0"/>
              <a:t> </a:t>
            </a:r>
            <a:r>
              <a:rPr lang="ru-RU" sz="1400" b="1" dirty="0" err="1"/>
              <a:t>даних</a:t>
            </a:r>
            <a:r>
              <a:rPr lang="ru-RU" sz="1400" b="1" dirty="0"/>
              <a:t> </a:t>
            </a:r>
            <a:r>
              <a:rPr lang="ru-RU" sz="1400" b="1" dirty="0" err="1"/>
              <a:t>між</a:t>
            </a:r>
            <a:r>
              <a:rPr lang="ru-RU" sz="1400" b="1" dirty="0"/>
              <a:t> веб-</a:t>
            </a:r>
            <a:r>
              <a:rPr lang="ru-RU" sz="1400" b="1" dirty="0" err="1"/>
              <a:t>версією</a:t>
            </a:r>
            <a:r>
              <a:rPr lang="ru-RU" sz="1400" b="1" dirty="0"/>
              <a:t>, </a:t>
            </a:r>
            <a:r>
              <a:rPr lang="ru-RU" sz="1400" b="1" dirty="0" err="1"/>
              <a:t>десктопним</a:t>
            </a:r>
            <a:r>
              <a:rPr lang="ru-RU" sz="1400" b="1" dirty="0"/>
              <a:t> </a:t>
            </a:r>
            <a:r>
              <a:rPr lang="ru-RU" sz="1400" b="1" dirty="0" err="1"/>
              <a:t>додатком</a:t>
            </a:r>
            <a:r>
              <a:rPr lang="ru-RU" sz="1400" b="1" dirty="0"/>
              <a:t> та </a:t>
            </a:r>
            <a:r>
              <a:rPr lang="ru-RU" sz="1400" b="1" dirty="0" err="1"/>
              <a:t>мобільним</a:t>
            </a:r>
            <a:r>
              <a:rPr lang="ru-RU" sz="1400" b="1" dirty="0"/>
              <a:t> </a:t>
            </a:r>
            <a:r>
              <a:rPr lang="ru-RU" sz="1400" b="1" dirty="0" err="1"/>
              <a:t>пристроєм</a:t>
            </a:r>
            <a:r>
              <a:rPr lang="ru-RU" sz="1400" b="1" dirty="0"/>
              <a:t>.</a:t>
            </a:r>
          </a:p>
          <a:p>
            <a:r>
              <a:rPr lang="ru-RU" sz="1400" b="1" dirty="0" err="1"/>
              <a:t>Мінуси</a:t>
            </a:r>
            <a:r>
              <a:rPr lang="ru-RU" sz="1400" b="1" dirty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b="1" dirty="0" err="1" smtClean="0"/>
              <a:t>Більшість</a:t>
            </a:r>
            <a:r>
              <a:rPr lang="ru-RU" sz="1400" b="1" dirty="0" smtClean="0"/>
              <a:t> </a:t>
            </a:r>
            <a:r>
              <a:rPr lang="ru-RU" sz="1400" b="1" dirty="0" err="1"/>
              <a:t>ключових</a:t>
            </a:r>
            <a:r>
              <a:rPr lang="ru-RU" sz="1400" b="1" dirty="0"/>
              <a:t> </a:t>
            </a:r>
            <a:r>
              <a:rPr lang="ru-RU" sz="1400" b="1" dirty="0" err="1"/>
              <a:t>функцій</a:t>
            </a:r>
            <a:r>
              <a:rPr lang="ru-RU" sz="1400" b="1" dirty="0"/>
              <a:t> та доступ до </a:t>
            </a:r>
            <a:r>
              <a:rPr lang="ru-RU" sz="1400" b="1" dirty="0" err="1"/>
              <a:t>архівів</a:t>
            </a:r>
            <a:r>
              <a:rPr lang="ru-RU" sz="1400" b="1" dirty="0"/>
              <a:t> </a:t>
            </a:r>
            <a:r>
              <a:rPr lang="ru-RU" sz="1400" b="1" dirty="0" err="1"/>
              <a:t>доступні</a:t>
            </a:r>
            <a:r>
              <a:rPr lang="ru-RU" sz="1400" b="1" dirty="0"/>
              <a:t> </a:t>
            </a:r>
            <a:r>
              <a:rPr lang="ru-RU" sz="1400" b="1" dirty="0" err="1"/>
              <a:t>лише</a:t>
            </a:r>
            <a:r>
              <a:rPr lang="ru-RU" sz="1400" b="1" dirty="0"/>
              <a:t> за дорогою </a:t>
            </a:r>
            <a:r>
              <a:rPr lang="ru-RU" sz="1400" b="1" dirty="0" err="1"/>
              <a:t>передплатою</a:t>
            </a:r>
            <a:r>
              <a:rPr lang="ru-RU" sz="1400" b="1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b="1" dirty="0" err="1" smtClean="0"/>
              <a:t>Зберігання</a:t>
            </a:r>
            <a:r>
              <a:rPr lang="ru-RU" sz="1400" b="1" dirty="0" smtClean="0"/>
              <a:t> </a:t>
            </a:r>
            <a:r>
              <a:rPr lang="ru-RU" sz="1400" b="1" dirty="0" err="1"/>
              <a:t>персональних</a:t>
            </a:r>
            <a:r>
              <a:rPr lang="ru-RU" sz="1400" b="1" dirty="0"/>
              <a:t> </a:t>
            </a:r>
            <a:r>
              <a:rPr lang="ru-RU" sz="1400" b="1" dirty="0" err="1"/>
              <a:t>даних</a:t>
            </a:r>
            <a:r>
              <a:rPr lang="ru-RU" sz="1400" b="1" dirty="0"/>
              <a:t> на </a:t>
            </a:r>
            <a:r>
              <a:rPr lang="ru-RU" sz="1400" b="1" dirty="0" err="1"/>
              <a:t>сторонніх</a:t>
            </a:r>
            <a:r>
              <a:rPr lang="ru-RU" sz="1400" b="1" dirty="0"/>
              <a:t> серверах (</a:t>
            </a:r>
            <a:r>
              <a:rPr lang="ru-RU" sz="1400" b="1" dirty="0" err="1"/>
              <a:t>ризик</a:t>
            </a:r>
            <a:r>
              <a:rPr lang="ru-RU" sz="1400" b="1" dirty="0"/>
              <a:t> </a:t>
            </a:r>
            <a:r>
              <a:rPr lang="ru-RU" sz="1400" b="1" dirty="0" err="1"/>
              <a:t>витоку</a:t>
            </a:r>
            <a:r>
              <a:rPr lang="ru-RU" sz="1400" b="1" dirty="0"/>
              <a:t> </a:t>
            </a:r>
            <a:r>
              <a:rPr lang="ru-RU" sz="1400" b="1" dirty="0" err="1"/>
              <a:t>інформації</a:t>
            </a:r>
            <a:r>
              <a:rPr lang="ru-RU" sz="1400" b="1" dirty="0"/>
              <a:t>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b="1" dirty="0" smtClean="0"/>
              <a:t>Для </a:t>
            </a:r>
            <a:r>
              <a:rPr lang="ru-RU" sz="1400" b="1" dirty="0" err="1"/>
              <a:t>повноцінної</a:t>
            </a:r>
            <a:r>
              <a:rPr lang="ru-RU" sz="1400" b="1" dirty="0"/>
              <a:t> </a:t>
            </a:r>
            <a:r>
              <a:rPr lang="ru-RU" sz="1400" b="1" dirty="0" err="1"/>
              <a:t>роботи</a:t>
            </a:r>
            <a:r>
              <a:rPr lang="ru-RU" sz="1400" b="1" dirty="0"/>
              <a:t> та </a:t>
            </a:r>
            <a:r>
              <a:rPr lang="ru-RU" sz="1400" b="1" dirty="0" err="1"/>
              <a:t>пошуку</a:t>
            </a:r>
            <a:r>
              <a:rPr lang="ru-RU" sz="1400" b="1" dirty="0"/>
              <a:t> </a:t>
            </a:r>
            <a:r>
              <a:rPr lang="ru-RU" sz="1400" b="1" dirty="0" err="1"/>
              <a:t>збігів</a:t>
            </a:r>
            <a:r>
              <a:rPr lang="ru-RU" sz="1400" b="1" dirty="0"/>
              <a:t> </a:t>
            </a:r>
            <a:r>
              <a:rPr lang="ru-RU" sz="1400" b="1" dirty="0" err="1"/>
              <a:t>необхідне</a:t>
            </a:r>
            <a:r>
              <a:rPr lang="ru-RU" sz="1400" b="1" dirty="0"/>
              <a:t> </a:t>
            </a:r>
            <a:r>
              <a:rPr lang="ru-RU" sz="1400" b="1" dirty="0" err="1"/>
              <a:t>постійне</a:t>
            </a:r>
            <a:r>
              <a:rPr lang="ru-RU" sz="1400" b="1" dirty="0"/>
              <a:t> </a:t>
            </a:r>
            <a:r>
              <a:rPr lang="ru-RU" sz="1400" b="1" dirty="0" err="1"/>
              <a:t>мережеве</a:t>
            </a:r>
            <a:r>
              <a:rPr lang="ru-RU" sz="1400" b="1" dirty="0"/>
              <a:t> </a:t>
            </a:r>
            <a:r>
              <a:rPr lang="ru-RU" sz="1400" b="1" dirty="0" err="1"/>
              <a:t>з'єднання</a:t>
            </a:r>
            <a:r>
              <a:rPr lang="ru-RU" sz="1400" b="1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b="1" dirty="0" err="1" smtClean="0"/>
              <a:t>Труднощі</a:t>
            </a:r>
            <a:r>
              <a:rPr lang="ru-RU" sz="1400" b="1" dirty="0" smtClean="0"/>
              <a:t> </a:t>
            </a:r>
            <a:r>
              <a:rPr lang="ru-RU" sz="1400" b="1" dirty="0"/>
              <a:t>при </a:t>
            </a:r>
            <a:r>
              <a:rPr lang="ru-RU" sz="1400" b="1" dirty="0" err="1"/>
              <a:t>спробі</a:t>
            </a:r>
            <a:r>
              <a:rPr lang="ru-RU" sz="1400" b="1" dirty="0"/>
              <a:t> перенести </a:t>
            </a:r>
            <a:r>
              <a:rPr lang="ru-RU" sz="1400" b="1" dirty="0" err="1"/>
              <a:t>дані</a:t>
            </a:r>
            <a:r>
              <a:rPr lang="ru-RU" sz="1400" b="1" dirty="0"/>
              <a:t> в </a:t>
            </a:r>
            <a:r>
              <a:rPr lang="ru-RU" sz="1400" b="1" dirty="0" err="1"/>
              <a:t>інші</a:t>
            </a:r>
            <a:r>
              <a:rPr lang="ru-RU" sz="1400" b="1" dirty="0"/>
              <a:t> </a:t>
            </a:r>
            <a:r>
              <a:rPr lang="ru-RU" sz="1400" b="1" dirty="0" err="1"/>
              <a:t>системи</a:t>
            </a:r>
            <a:r>
              <a:rPr lang="ru-RU" sz="1400" b="1" dirty="0"/>
              <a:t> без </a:t>
            </a:r>
            <a:r>
              <a:rPr lang="ru-RU" sz="1400" b="1" dirty="0" err="1"/>
              <a:t>втрати</a:t>
            </a:r>
            <a:r>
              <a:rPr lang="ru-RU" sz="1400" b="1" dirty="0"/>
              <a:t> </a:t>
            </a:r>
            <a:r>
              <a:rPr lang="ru-RU" sz="1400" b="1" dirty="0" err="1"/>
              <a:t>медіафайлів</a:t>
            </a:r>
            <a:r>
              <a:rPr lang="ru-RU" sz="1400" b="1" dirty="0"/>
              <a:t>.</a:t>
            </a:r>
          </a:p>
          <a:p>
            <a:r>
              <a:rPr lang="ru-RU" sz="1400" b="1" dirty="0" smtClean="0"/>
              <a:t> </a:t>
            </a:r>
            <a:endParaRPr lang="ru-RU" sz="1400" b="1" dirty="0"/>
          </a:p>
        </p:txBody>
      </p:sp>
    </p:spTree>
    <p:extLst>
      <p:ext uri="{BB962C8B-B14F-4D97-AF65-F5344CB8AC3E}">
        <p14:creationId xmlns:p14="http://schemas.microsoft.com/office/powerpoint/2010/main" val="395269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 smtClean="0"/>
              <a:t>АНАЛІЗ АНАЛОГІВ</a:t>
            </a:r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sz="quarter" idx="10"/>
          </p:nvPr>
        </p:nvSpPr>
        <p:spPr>
          <a:xfrm>
            <a:off x="325819" y="1045211"/>
            <a:ext cx="3624389" cy="792734"/>
          </a:xfrm>
        </p:spPr>
        <p:txBody>
          <a:bodyPr/>
          <a:lstStyle/>
          <a:p>
            <a:r>
              <a:rPr lang="ru-RU" dirty="0" err="1"/>
              <a:t>Gramps</a:t>
            </a:r>
            <a:r>
              <a:rPr lang="ru-RU" dirty="0"/>
              <a:t> </a:t>
            </a:r>
            <a:r>
              <a:rPr lang="ru-RU" dirty="0" smtClean="0"/>
              <a:t> </a:t>
            </a:r>
            <a:endParaRPr lang="ru-RU" dirty="0"/>
          </a:p>
          <a:p>
            <a:endParaRPr lang="ru-RU" dirty="0"/>
          </a:p>
        </p:txBody>
      </p:sp>
      <p:sp>
        <p:nvSpPr>
          <p:cNvPr id="7" name="Прямоугольник 6"/>
          <p:cNvSpPr/>
          <p:nvPr/>
        </p:nvSpPr>
        <p:spPr>
          <a:xfrm>
            <a:off x="362273" y="1637067"/>
            <a:ext cx="6981207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400" b="1" dirty="0" smtClean="0"/>
              <a:t> </a:t>
            </a:r>
            <a:endParaRPr lang="ru-RU" sz="1400" b="1" dirty="0"/>
          </a:p>
        </p:txBody>
      </p:sp>
      <p:pic>
        <p:nvPicPr>
          <p:cNvPr id="6" name="Рисунок 5"/>
          <p:cNvPicPr/>
          <p:nvPr/>
        </p:nvPicPr>
        <p:blipFill rotWithShape="1">
          <a:blip r:embed="rId2"/>
          <a:srcRect l="9221" r="9633"/>
          <a:stretch/>
        </p:blipFill>
        <p:spPr bwMode="auto">
          <a:xfrm>
            <a:off x="6004411" y="90965"/>
            <a:ext cx="5510933" cy="3092201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5" name="Прямоугольник 4"/>
          <p:cNvSpPr/>
          <p:nvPr/>
        </p:nvSpPr>
        <p:spPr>
          <a:xfrm>
            <a:off x="206825" y="2576607"/>
            <a:ext cx="10725912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b="1" dirty="0" err="1" smtClean="0"/>
              <a:t>Плюси</a:t>
            </a:r>
            <a:r>
              <a:rPr lang="ru-RU" b="1" dirty="0"/>
              <a:t>:</a:t>
            </a:r>
            <a:endParaRPr lang="ru-RU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dirty="0" err="1" smtClean="0"/>
              <a:t>Повністю</a:t>
            </a:r>
            <a:r>
              <a:rPr lang="ru-RU" dirty="0" smtClean="0"/>
              <a:t> </a:t>
            </a:r>
            <a:r>
              <a:rPr lang="ru-RU" dirty="0" err="1"/>
              <a:t>відкритий</a:t>
            </a:r>
            <a:r>
              <a:rPr lang="ru-RU" dirty="0"/>
              <a:t> код без </a:t>
            </a:r>
            <a:r>
              <a:rPr lang="ru-RU" dirty="0" err="1"/>
              <a:t>підписок</a:t>
            </a:r>
            <a:r>
              <a:rPr lang="ru-RU" dirty="0"/>
              <a:t> та </a:t>
            </a:r>
            <a:r>
              <a:rPr lang="ru-RU" dirty="0" err="1"/>
              <a:t>обмежень</a:t>
            </a:r>
            <a:r>
              <a:rPr lang="ru-RU" dirty="0"/>
              <a:t>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dirty="0" err="1" smtClean="0"/>
              <a:t>Локальне</a:t>
            </a:r>
            <a:r>
              <a:rPr lang="ru-RU" dirty="0" smtClean="0"/>
              <a:t> </a:t>
            </a:r>
            <a:r>
              <a:rPr lang="ru-RU" dirty="0" err="1"/>
              <a:t>зберігання</a:t>
            </a:r>
            <a:r>
              <a:rPr lang="ru-RU" dirty="0"/>
              <a:t> </a:t>
            </a:r>
            <a:r>
              <a:rPr lang="ru-RU" dirty="0" err="1"/>
              <a:t>даних</a:t>
            </a:r>
            <a:r>
              <a:rPr lang="ru-RU" dirty="0"/>
              <a:t> на ПК без </a:t>
            </a:r>
            <a:r>
              <a:rPr lang="ru-RU" dirty="0" err="1"/>
              <a:t>сторонніх</a:t>
            </a:r>
            <a:r>
              <a:rPr lang="ru-RU" dirty="0"/>
              <a:t> </a:t>
            </a:r>
            <a:r>
              <a:rPr lang="ru-RU" dirty="0" err="1"/>
              <a:t>серверів</a:t>
            </a:r>
            <a:r>
              <a:rPr lang="ru-RU" dirty="0"/>
              <a:t>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dirty="0" smtClean="0"/>
              <a:t>Детальна </a:t>
            </a:r>
            <a:r>
              <a:rPr lang="ru-RU" dirty="0" err="1"/>
              <a:t>фіксація</a:t>
            </a:r>
            <a:r>
              <a:rPr lang="ru-RU" dirty="0"/>
              <a:t> </a:t>
            </a:r>
            <a:r>
              <a:rPr lang="ru-RU" dirty="0" err="1"/>
              <a:t>подій</a:t>
            </a:r>
            <a:r>
              <a:rPr lang="ru-RU" dirty="0"/>
              <a:t>, </a:t>
            </a:r>
            <a:r>
              <a:rPr lang="ru-RU" dirty="0" err="1"/>
              <a:t>джерел</a:t>
            </a:r>
            <a:r>
              <a:rPr lang="ru-RU" dirty="0"/>
              <a:t> та </a:t>
            </a:r>
            <a:r>
              <a:rPr lang="ru-RU" dirty="0" err="1"/>
              <a:t>архівних</a:t>
            </a:r>
            <a:r>
              <a:rPr lang="ru-RU" dirty="0"/>
              <a:t> </a:t>
            </a:r>
            <a:r>
              <a:rPr lang="ru-RU" dirty="0" err="1"/>
              <a:t>документів</a:t>
            </a:r>
            <a:r>
              <a:rPr lang="ru-RU" dirty="0"/>
              <a:t>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dirty="0" smtClean="0"/>
              <a:t>Велика </a:t>
            </a:r>
            <a:r>
              <a:rPr lang="ru-RU" dirty="0" err="1"/>
              <a:t>кількість</a:t>
            </a:r>
            <a:r>
              <a:rPr lang="ru-RU" dirty="0"/>
              <a:t> </a:t>
            </a:r>
            <a:r>
              <a:rPr lang="ru-RU" dirty="0" err="1"/>
              <a:t>типів</a:t>
            </a:r>
            <a:r>
              <a:rPr lang="ru-RU" dirty="0"/>
              <a:t> </a:t>
            </a:r>
            <a:r>
              <a:rPr lang="ru-RU" dirty="0" err="1"/>
              <a:t>діаграм</a:t>
            </a:r>
            <a:r>
              <a:rPr lang="ru-RU" dirty="0"/>
              <a:t> та </a:t>
            </a:r>
            <a:r>
              <a:rPr lang="ru-RU" dirty="0" err="1"/>
              <a:t>експорт</a:t>
            </a:r>
            <a:r>
              <a:rPr lang="ru-RU" dirty="0"/>
              <a:t> у </a:t>
            </a:r>
            <a:r>
              <a:rPr lang="en-US" dirty="0"/>
              <a:t>PDF/HTML.</a:t>
            </a:r>
          </a:p>
          <a:p>
            <a:pPr algn="just"/>
            <a:r>
              <a:rPr lang="ru-RU" b="1" dirty="0" err="1"/>
              <a:t>Мінуси</a:t>
            </a:r>
            <a:r>
              <a:rPr lang="ru-RU" b="1" dirty="0"/>
              <a:t>:</a:t>
            </a:r>
            <a:endParaRPr lang="ru-RU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dirty="0" err="1" smtClean="0"/>
              <a:t>Перевантажений</a:t>
            </a:r>
            <a:r>
              <a:rPr lang="ru-RU" dirty="0" smtClean="0"/>
              <a:t> </a:t>
            </a:r>
            <a:r>
              <a:rPr lang="ru-RU" dirty="0" err="1"/>
              <a:t>інтерфейс</a:t>
            </a:r>
            <a:r>
              <a:rPr lang="ru-RU" dirty="0"/>
              <a:t>, </a:t>
            </a:r>
            <a:r>
              <a:rPr lang="ru-RU" dirty="0" err="1"/>
              <a:t>важкий</a:t>
            </a:r>
            <a:r>
              <a:rPr lang="ru-RU" dirty="0"/>
              <a:t> для </a:t>
            </a:r>
            <a:r>
              <a:rPr lang="ru-RU" dirty="0" err="1"/>
              <a:t>початківців</a:t>
            </a:r>
            <a:r>
              <a:rPr lang="ru-RU" dirty="0"/>
              <a:t>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dirty="0" err="1" smtClean="0"/>
              <a:t>Немає</a:t>
            </a:r>
            <a:r>
              <a:rPr lang="ru-RU" dirty="0" smtClean="0"/>
              <a:t> </a:t>
            </a:r>
            <a:r>
              <a:rPr lang="ru-RU" dirty="0" err="1"/>
              <a:t>синхронізації</a:t>
            </a:r>
            <a:r>
              <a:rPr lang="ru-RU" dirty="0"/>
              <a:t> </a:t>
            </a:r>
            <a:r>
              <a:rPr lang="ru-RU" dirty="0" err="1"/>
              <a:t>між</a:t>
            </a:r>
            <a:r>
              <a:rPr lang="ru-RU" dirty="0"/>
              <a:t> </a:t>
            </a:r>
            <a:r>
              <a:rPr lang="ru-RU" dirty="0" err="1"/>
              <a:t>пристроями</a:t>
            </a:r>
            <a:r>
              <a:rPr lang="ru-RU" dirty="0"/>
              <a:t>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dirty="0" err="1" smtClean="0"/>
              <a:t>Візуальний</a:t>
            </a:r>
            <a:r>
              <a:rPr lang="ru-RU" dirty="0" smtClean="0"/>
              <a:t> </a:t>
            </a:r>
            <a:r>
              <a:rPr lang="ru-RU" dirty="0"/>
              <a:t>стиль </a:t>
            </a:r>
            <a:r>
              <a:rPr lang="ru-RU" dirty="0" err="1"/>
              <a:t>програми</a:t>
            </a:r>
            <a:r>
              <a:rPr lang="ru-RU" dirty="0"/>
              <a:t> </a:t>
            </a:r>
            <a:r>
              <a:rPr lang="ru-RU" dirty="0" err="1"/>
              <a:t>виглядає</a:t>
            </a:r>
            <a:r>
              <a:rPr lang="ru-RU" dirty="0"/>
              <a:t> </a:t>
            </a:r>
            <a:r>
              <a:rPr lang="ru-RU" dirty="0" err="1"/>
              <a:t>несучасним</a:t>
            </a:r>
            <a:r>
              <a:rPr lang="ru-RU" dirty="0"/>
              <a:t>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dirty="0" err="1" smtClean="0"/>
              <a:t>Складність</a:t>
            </a:r>
            <a:r>
              <a:rPr lang="ru-RU" dirty="0" smtClean="0"/>
              <a:t> </a:t>
            </a:r>
            <a:r>
              <a:rPr lang="ru-RU" dirty="0" err="1"/>
              <a:t>імпорту</a:t>
            </a:r>
            <a:r>
              <a:rPr lang="ru-RU" dirty="0"/>
              <a:t> </a:t>
            </a:r>
            <a:r>
              <a:rPr lang="ru-RU" dirty="0" err="1"/>
              <a:t>даних</a:t>
            </a:r>
            <a:r>
              <a:rPr lang="ru-RU" dirty="0"/>
              <a:t> з </a:t>
            </a:r>
            <a:r>
              <a:rPr lang="ru-RU" dirty="0" err="1"/>
              <a:t>інших</a:t>
            </a:r>
            <a:r>
              <a:rPr lang="ru-RU" dirty="0"/>
              <a:t> систем.</a:t>
            </a:r>
          </a:p>
        </p:txBody>
      </p:sp>
    </p:spTree>
    <p:extLst>
      <p:ext uri="{BB962C8B-B14F-4D97-AF65-F5344CB8AC3E}">
        <p14:creationId xmlns:p14="http://schemas.microsoft.com/office/powerpoint/2010/main" val="34721145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 smtClean="0"/>
              <a:t>АНАЛІЗ АНАЛОГІВ</a:t>
            </a:r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sz="quarter" idx="10"/>
          </p:nvPr>
        </p:nvSpPr>
        <p:spPr>
          <a:xfrm>
            <a:off x="325819" y="1045211"/>
            <a:ext cx="3624389" cy="792734"/>
          </a:xfrm>
        </p:spPr>
        <p:txBody>
          <a:bodyPr/>
          <a:lstStyle/>
          <a:p>
            <a:r>
              <a:rPr lang="en-US" dirty="0"/>
              <a:t>Ancestry</a:t>
            </a:r>
            <a:r>
              <a:rPr lang="uk-UA" dirty="0"/>
              <a:t>.</a:t>
            </a:r>
            <a:r>
              <a:rPr lang="en-US" dirty="0"/>
              <a:t>com</a:t>
            </a:r>
            <a:r>
              <a:rPr lang="uk-UA" dirty="0"/>
              <a:t> </a:t>
            </a:r>
            <a:endParaRPr lang="ru-RU" dirty="0"/>
          </a:p>
          <a:p>
            <a:endParaRPr lang="ru-RU" dirty="0"/>
          </a:p>
        </p:txBody>
      </p:sp>
      <p:sp>
        <p:nvSpPr>
          <p:cNvPr id="7" name="Прямоугольник 6"/>
          <p:cNvSpPr/>
          <p:nvPr/>
        </p:nvSpPr>
        <p:spPr>
          <a:xfrm>
            <a:off x="142816" y="1948254"/>
            <a:ext cx="10007023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000" b="1" dirty="0" err="1"/>
              <a:t>Плюси</a:t>
            </a:r>
            <a:r>
              <a:rPr lang="ru-RU" sz="2000" b="1" dirty="0"/>
              <a:t>:</a:t>
            </a:r>
            <a:endParaRPr lang="ru-RU" sz="20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sz="2000" dirty="0" smtClean="0"/>
              <a:t>Доступ </a:t>
            </a:r>
            <a:r>
              <a:rPr lang="ru-RU" sz="2000" dirty="0"/>
              <a:t>до </a:t>
            </a:r>
            <a:r>
              <a:rPr lang="ru-RU" sz="2000" dirty="0" err="1"/>
              <a:t>мільярдів</a:t>
            </a:r>
            <a:r>
              <a:rPr lang="ru-RU" sz="2000" dirty="0"/>
              <a:t> </a:t>
            </a:r>
            <a:r>
              <a:rPr lang="ru-RU" sz="2000" dirty="0" err="1"/>
              <a:t>історичних</a:t>
            </a:r>
            <a:r>
              <a:rPr lang="ru-RU" sz="2000" dirty="0"/>
              <a:t> </a:t>
            </a:r>
            <a:r>
              <a:rPr lang="ru-RU" sz="2000" dirty="0" err="1"/>
              <a:t>записів</a:t>
            </a:r>
            <a:r>
              <a:rPr lang="ru-RU" sz="2000" dirty="0"/>
              <a:t> (</a:t>
            </a:r>
            <a:r>
              <a:rPr lang="ru-RU" sz="2000" dirty="0" err="1"/>
              <a:t>свідоцтва</a:t>
            </a:r>
            <a:r>
              <a:rPr lang="ru-RU" sz="2000" dirty="0"/>
              <a:t> про </a:t>
            </a:r>
            <a:r>
              <a:rPr lang="ru-RU" sz="2000" dirty="0" err="1"/>
              <a:t>народження</a:t>
            </a:r>
            <a:r>
              <a:rPr lang="ru-RU" sz="2000" dirty="0"/>
              <a:t>, переписи </a:t>
            </a:r>
            <a:r>
              <a:rPr lang="ru-RU" sz="2000" dirty="0" err="1"/>
              <a:t>населення</a:t>
            </a:r>
            <a:r>
              <a:rPr lang="ru-RU" sz="2000" dirty="0"/>
              <a:t> </a:t>
            </a:r>
            <a:r>
              <a:rPr lang="ru-RU" sz="2000" dirty="0" err="1"/>
              <a:t>тощо</a:t>
            </a:r>
            <a:r>
              <a:rPr lang="ru-RU" sz="2000" dirty="0"/>
              <a:t>).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sz="2000" dirty="0" err="1" smtClean="0"/>
              <a:t>Найбільша</a:t>
            </a:r>
            <a:r>
              <a:rPr lang="ru-RU" sz="2000" dirty="0" smtClean="0"/>
              <a:t> </a:t>
            </a:r>
            <a:r>
              <a:rPr lang="ru-RU" sz="2000" dirty="0"/>
              <a:t>у </a:t>
            </a:r>
            <a:r>
              <a:rPr lang="ru-RU" sz="2000" dirty="0" err="1"/>
              <a:t>світі</a:t>
            </a:r>
            <a:r>
              <a:rPr lang="ru-RU" sz="2000" dirty="0"/>
              <a:t> </a:t>
            </a:r>
            <a:r>
              <a:rPr lang="ru-RU" sz="2000" dirty="0" err="1"/>
              <a:t>спільнота</a:t>
            </a:r>
            <a:r>
              <a:rPr lang="ru-RU" sz="2000" dirty="0"/>
              <a:t>, </a:t>
            </a:r>
            <a:r>
              <a:rPr lang="ru-RU" sz="2000" dirty="0" err="1"/>
              <a:t>що</a:t>
            </a:r>
            <a:r>
              <a:rPr lang="ru-RU" sz="2000" dirty="0"/>
              <a:t> </a:t>
            </a:r>
            <a:r>
              <a:rPr lang="ru-RU" sz="2000" dirty="0" err="1"/>
              <a:t>підвищує</a:t>
            </a:r>
            <a:r>
              <a:rPr lang="ru-RU" sz="2000" dirty="0"/>
              <a:t> </a:t>
            </a:r>
            <a:r>
              <a:rPr lang="ru-RU" sz="2000" dirty="0" err="1"/>
              <a:t>шанси</a:t>
            </a:r>
            <a:r>
              <a:rPr lang="ru-RU" sz="2000" dirty="0"/>
              <a:t> </a:t>
            </a:r>
            <a:r>
              <a:rPr lang="ru-RU" sz="2000" dirty="0" err="1"/>
              <a:t>знайти</a:t>
            </a:r>
            <a:r>
              <a:rPr lang="ru-RU" sz="2000" dirty="0"/>
              <a:t> далеких </a:t>
            </a:r>
            <a:r>
              <a:rPr lang="ru-RU" sz="2000" dirty="0" err="1"/>
              <a:t>предків</a:t>
            </a:r>
            <a:r>
              <a:rPr lang="ru-RU" sz="2000" dirty="0"/>
              <a:t>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sz="2000" dirty="0" err="1" smtClean="0"/>
              <a:t>Можливість</a:t>
            </a:r>
            <a:r>
              <a:rPr lang="ru-RU" sz="2000" dirty="0" smtClean="0"/>
              <a:t> </a:t>
            </a:r>
            <a:r>
              <a:rPr lang="ru-RU" sz="2000" dirty="0" err="1"/>
              <a:t>інтеграції</a:t>
            </a:r>
            <a:r>
              <a:rPr lang="ru-RU" sz="2000" dirty="0"/>
              <a:t> </a:t>
            </a:r>
            <a:r>
              <a:rPr lang="ru-RU" sz="2000" dirty="0" err="1"/>
              <a:t>результатів</a:t>
            </a:r>
            <a:r>
              <a:rPr lang="ru-RU" sz="2000" dirty="0"/>
              <a:t> ДНК-</a:t>
            </a:r>
            <a:r>
              <a:rPr lang="ru-RU" sz="2000" dirty="0" err="1"/>
              <a:t>тестів</a:t>
            </a:r>
            <a:r>
              <a:rPr lang="ru-RU" sz="2000" dirty="0"/>
              <a:t> </a:t>
            </a:r>
            <a:r>
              <a:rPr lang="ru-RU" sz="2000" dirty="0" err="1"/>
              <a:t>безпосередньо</a:t>
            </a:r>
            <a:r>
              <a:rPr lang="ru-RU" sz="2000" dirty="0"/>
              <a:t> в </a:t>
            </a:r>
            <a:r>
              <a:rPr lang="ru-RU" sz="2000" dirty="0" err="1"/>
              <a:t>генеалогічне</a:t>
            </a:r>
            <a:r>
              <a:rPr lang="ru-RU" sz="2000" dirty="0"/>
              <a:t> дерево.</a:t>
            </a:r>
          </a:p>
          <a:p>
            <a:pPr algn="just"/>
            <a:r>
              <a:rPr lang="ru-RU" sz="2000" b="1" dirty="0" err="1"/>
              <a:t>Мінуси</a:t>
            </a:r>
            <a:r>
              <a:rPr lang="ru-RU" sz="2000" b="1" dirty="0"/>
              <a:t>:</a:t>
            </a:r>
            <a:endParaRPr lang="ru-RU" sz="20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sz="2000" dirty="0" err="1" smtClean="0"/>
              <a:t>Орієнтованість</a:t>
            </a:r>
            <a:r>
              <a:rPr lang="ru-RU" sz="2000" dirty="0" smtClean="0"/>
              <a:t> </a:t>
            </a:r>
            <a:r>
              <a:rPr lang="ru-RU" sz="2000" dirty="0" err="1"/>
              <a:t>переважно</a:t>
            </a:r>
            <a:r>
              <a:rPr lang="ru-RU" sz="2000" dirty="0"/>
              <a:t> на США та </a:t>
            </a:r>
            <a:r>
              <a:rPr lang="ru-RU" sz="2000" dirty="0" err="1" smtClean="0"/>
              <a:t>Європу</a:t>
            </a:r>
            <a:r>
              <a:rPr lang="ru-RU" sz="2000" dirty="0" smtClean="0"/>
              <a:t>.</a:t>
            </a:r>
            <a:endParaRPr lang="ru-RU" sz="20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sz="2000" dirty="0" err="1" smtClean="0"/>
              <a:t>Інтерфейс</a:t>
            </a:r>
            <a:r>
              <a:rPr lang="ru-RU" sz="2000" dirty="0" smtClean="0"/>
              <a:t> </a:t>
            </a:r>
            <a:r>
              <a:rPr lang="ru-RU" sz="2000" dirty="0" err="1"/>
              <a:t>може</a:t>
            </a:r>
            <a:r>
              <a:rPr lang="ru-RU" sz="2000" dirty="0"/>
              <a:t> бути </a:t>
            </a:r>
            <a:r>
              <a:rPr lang="ru-RU" sz="2000" dirty="0" err="1"/>
              <a:t>заплутаним</a:t>
            </a:r>
            <a:r>
              <a:rPr lang="ru-RU" sz="2000" dirty="0"/>
              <a:t> для </a:t>
            </a:r>
            <a:r>
              <a:rPr lang="ru-RU" sz="2000" dirty="0" err="1"/>
              <a:t>початківця</a:t>
            </a:r>
            <a:r>
              <a:rPr lang="ru-RU" sz="2000" dirty="0"/>
              <a:t> через </a:t>
            </a:r>
            <a:r>
              <a:rPr lang="ru-RU" sz="2000" dirty="0" err="1"/>
              <a:t>велику</a:t>
            </a:r>
            <a:r>
              <a:rPr lang="ru-RU" sz="2000" dirty="0"/>
              <a:t> </a:t>
            </a:r>
            <a:r>
              <a:rPr lang="ru-RU" sz="2000" dirty="0" err="1"/>
              <a:t>кількість</a:t>
            </a:r>
            <a:r>
              <a:rPr lang="ru-RU" sz="2000" dirty="0"/>
              <a:t> </a:t>
            </a:r>
            <a:r>
              <a:rPr lang="ru-RU" sz="2000" dirty="0" err="1"/>
              <a:t>фільтрів</a:t>
            </a:r>
            <a:r>
              <a:rPr lang="ru-RU" sz="2000" dirty="0"/>
              <a:t>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sz="2000" dirty="0" err="1" smtClean="0"/>
              <a:t>Неможливість</a:t>
            </a:r>
            <a:r>
              <a:rPr lang="ru-RU" sz="2000" dirty="0" smtClean="0"/>
              <a:t> </a:t>
            </a:r>
            <a:r>
              <a:rPr lang="ru-RU" sz="2000" dirty="0" err="1"/>
              <a:t>повноцінно</a:t>
            </a:r>
            <a:r>
              <a:rPr lang="ru-RU" sz="2000" dirty="0"/>
              <a:t> </a:t>
            </a:r>
            <a:r>
              <a:rPr lang="ru-RU" sz="2000" dirty="0" err="1"/>
              <a:t>редагувати</a:t>
            </a:r>
            <a:r>
              <a:rPr lang="ru-RU" sz="2000" dirty="0"/>
              <a:t> </a:t>
            </a:r>
            <a:r>
              <a:rPr lang="ru-RU" sz="2000" dirty="0" err="1"/>
              <a:t>дані</a:t>
            </a:r>
            <a:r>
              <a:rPr lang="ru-RU" sz="2000" dirty="0"/>
              <a:t> без </a:t>
            </a:r>
            <a:r>
              <a:rPr lang="ru-RU" sz="2000" dirty="0" err="1"/>
              <a:t>стабільного</a:t>
            </a:r>
            <a:r>
              <a:rPr lang="ru-RU" sz="2000" dirty="0"/>
              <a:t> </a:t>
            </a:r>
            <a:r>
              <a:rPr lang="ru-RU" sz="2000" dirty="0" err="1"/>
              <a:t>підключення</a:t>
            </a:r>
            <a:r>
              <a:rPr lang="ru-RU" sz="2000" dirty="0"/>
              <a:t> до </a:t>
            </a:r>
            <a:r>
              <a:rPr lang="ru-RU" sz="2000" dirty="0" err="1"/>
              <a:t>мережі</a:t>
            </a:r>
            <a:r>
              <a:rPr lang="ru-RU" sz="2000" dirty="0"/>
              <a:t>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ru-RU" sz="2000" b="1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ru-RU" sz="2000" b="1" dirty="0"/>
          </a:p>
        </p:txBody>
      </p:sp>
      <p:pic>
        <p:nvPicPr>
          <p:cNvPr id="6" name="Рисунок 5"/>
          <p:cNvPicPr/>
          <p:nvPr/>
        </p:nvPicPr>
        <p:blipFill>
          <a:blip r:embed="rId2"/>
          <a:stretch>
            <a:fillRect/>
          </a:stretch>
        </p:blipFill>
        <p:spPr>
          <a:xfrm>
            <a:off x="6958584" y="0"/>
            <a:ext cx="4258881" cy="2167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21145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91659" y="1185201"/>
            <a:ext cx="3329463" cy="1405108"/>
          </a:xfrm>
        </p:spPr>
        <p:txBody>
          <a:bodyPr/>
          <a:lstStyle/>
          <a:p>
            <a:r>
              <a:rPr lang="uk-UA" dirty="0" smtClean="0"/>
              <a:t>Діаграма бази даних</a:t>
            </a:r>
            <a:endParaRPr lang="ru-RU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08601" y="351823"/>
            <a:ext cx="7985172" cy="52081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270228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b="1" dirty="0" smtClean="0"/>
              <a:t>ВИСНОВКИ</a:t>
            </a:r>
            <a:endParaRPr lang="ru-RU" b="1" dirty="0"/>
          </a:p>
        </p:txBody>
      </p:sp>
      <p:sp>
        <p:nvSpPr>
          <p:cNvPr id="3" name="Текст 2"/>
          <p:cNvSpPr>
            <a:spLocks noGrp="1"/>
          </p:cNvSpPr>
          <p:nvPr>
            <p:ph type="body" sz="quarter" idx="10"/>
          </p:nvPr>
        </p:nvSpPr>
        <p:spPr>
          <a:xfrm>
            <a:off x="298387" y="1127506"/>
            <a:ext cx="11522075" cy="4176713"/>
          </a:xfrm>
        </p:spPr>
        <p:txBody>
          <a:bodyPr/>
          <a:lstStyle/>
          <a:p>
            <a:pPr marL="0" indent="0" algn="just">
              <a:buNone/>
            </a:pPr>
            <a:r>
              <a:rPr lang="ru-RU" sz="2000" dirty="0"/>
              <a:t>У </a:t>
            </a:r>
            <a:r>
              <a:rPr lang="ru-RU" sz="2000" dirty="0" err="1"/>
              <a:t>результаті</a:t>
            </a:r>
            <a:r>
              <a:rPr lang="ru-RU" sz="2000" dirty="0"/>
              <a:t> </a:t>
            </a:r>
            <a:r>
              <a:rPr lang="ru-RU" sz="2000" dirty="0" err="1"/>
              <a:t>виконання</a:t>
            </a:r>
            <a:r>
              <a:rPr lang="ru-RU" sz="2000" dirty="0"/>
              <a:t> курсового </a:t>
            </a:r>
            <a:r>
              <a:rPr lang="ru-RU" sz="2000" dirty="0" err="1"/>
              <a:t>проєкту</a:t>
            </a:r>
            <a:r>
              <a:rPr lang="ru-RU" sz="2000" dirty="0"/>
              <a:t> </a:t>
            </a:r>
            <a:r>
              <a:rPr lang="ru-RU" sz="2000" dirty="0" err="1"/>
              <a:t>було</a:t>
            </a:r>
            <a:r>
              <a:rPr lang="ru-RU" sz="2000" dirty="0"/>
              <a:t> </a:t>
            </a:r>
            <a:r>
              <a:rPr lang="ru-RU" sz="2000" dirty="0" err="1"/>
              <a:t>розроблено</a:t>
            </a:r>
            <a:r>
              <a:rPr lang="ru-RU" sz="2000" dirty="0"/>
              <a:t> </a:t>
            </a:r>
            <a:r>
              <a:rPr lang="ru-RU" sz="2000" dirty="0" err="1"/>
              <a:t>програму</a:t>
            </a:r>
            <a:r>
              <a:rPr lang="ru-RU" sz="2000" dirty="0"/>
              <a:t> </a:t>
            </a:r>
            <a:r>
              <a:rPr lang="en-US" sz="2000" dirty="0" err="1" smtClean="0"/>
              <a:t>MyGrampApp</a:t>
            </a:r>
            <a:r>
              <a:rPr lang="en-US" sz="2000" dirty="0" smtClean="0"/>
              <a:t> </a:t>
            </a:r>
            <a:r>
              <a:rPr lang="ru-RU" sz="2000" dirty="0" smtClean="0"/>
              <a:t>для </a:t>
            </a:r>
            <a:r>
              <a:rPr lang="ru-RU" sz="2000" dirty="0" err="1" smtClean="0"/>
              <a:t>зберігання</a:t>
            </a:r>
            <a:r>
              <a:rPr lang="ru-RU" sz="2000" dirty="0" smtClean="0"/>
              <a:t> </a:t>
            </a:r>
            <a:r>
              <a:rPr lang="ru-RU" sz="2000" dirty="0"/>
              <a:t>та </a:t>
            </a:r>
            <a:r>
              <a:rPr lang="ru-RU" sz="2000" dirty="0" err="1"/>
              <a:t>візуалізації</a:t>
            </a:r>
            <a:r>
              <a:rPr lang="ru-RU" sz="2000" dirty="0"/>
              <a:t> </a:t>
            </a:r>
            <a:r>
              <a:rPr lang="ru-RU" sz="2000" dirty="0" err="1"/>
              <a:t>генеалогічних</a:t>
            </a:r>
            <a:r>
              <a:rPr lang="ru-RU" sz="2000" dirty="0"/>
              <a:t> </a:t>
            </a:r>
            <a:r>
              <a:rPr lang="ru-RU" sz="2000" dirty="0" err="1"/>
              <a:t>даних</a:t>
            </a:r>
            <a:r>
              <a:rPr lang="ru-RU" sz="2000" dirty="0" smtClean="0"/>
              <a:t>. </a:t>
            </a:r>
            <a:r>
              <a:rPr lang="ru-RU" sz="2000" dirty="0"/>
              <a:t>В </a:t>
            </a:r>
            <a:r>
              <a:rPr lang="ru-RU" sz="2000" dirty="0" err="1"/>
              <a:t>процесі</a:t>
            </a:r>
            <a:r>
              <a:rPr lang="ru-RU" sz="2000" dirty="0"/>
              <a:t> </a:t>
            </a:r>
            <a:r>
              <a:rPr lang="ru-RU" sz="2000" dirty="0" err="1"/>
              <a:t>роботи</a:t>
            </a:r>
            <a:r>
              <a:rPr lang="ru-RU" sz="2000" dirty="0"/>
              <a:t> </a:t>
            </a:r>
            <a:r>
              <a:rPr lang="ru-RU" sz="2000" dirty="0" err="1"/>
              <a:t>було</a:t>
            </a:r>
            <a:r>
              <a:rPr lang="ru-RU" sz="2000" dirty="0"/>
              <a:t> </a:t>
            </a:r>
            <a:r>
              <a:rPr lang="ru-RU" sz="2000" dirty="0" err="1"/>
              <a:t>проаналізовано</a:t>
            </a:r>
            <a:r>
              <a:rPr lang="ru-RU" sz="2000" dirty="0"/>
              <a:t> </a:t>
            </a:r>
            <a:r>
              <a:rPr lang="ru-RU" sz="2000" dirty="0" err="1"/>
              <a:t>існуючі</a:t>
            </a:r>
            <a:r>
              <a:rPr lang="ru-RU" sz="2000" dirty="0"/>
              <a:t> </a:t>
            </a:r>
            <a:r>
              <a:rPr lang="ru-RU" sz="2000" dirty="0" err="1"/>
              <a:t>програмні</a:t>
            </a:r>
            <a:r>
              <a:rPr lang="ru-RU" sz="2000" dirty="0"/>
              <a:t> </a:t>
            </a:r>
            <a:r>
              <a:rPr lang="ru-RU" sz="2000" dirty="0" err="1"/>
              <a:t>рішення</a:t>
            </a:r>
            <a:r>
              <a:rPr lang="ru-RU" sz="2000" dirty="0"/>
              <a:t> за </a:t>
            </a:r>
            <a:r>
              <a:rPr lang="ru-RU" sz="2000" dirty="0" err="1"/>
              <a:t>схожою</a:t>
            </a:r>
            <a:r>
              <a:rPr lang="ru-RU" sz="2000" dirty="0"/>
              <a:t> тематикою, </a:t>
            </a:r>
            <a:r>
              <a:rPr lang="ru-RU" sz="2000" dirty="0" err="1"/>
              <a:t>визначено</a:t>
            </a:r>
            <a:r>
              <a:rPr lang="ru-RU" sz="2000" dirty="0"/>
              <a:t> </a:t>
            </a:r>
            <a:r>
              <a:rPr lang="ru-RU" sz="2000" dirty="0" err="1"/>
              <a:t>їх</a:t>
            </a:r>
            <a:r>
              <a:rPr lang="ru-RU" sz="2000" dirty="0"/>
              <a:t> </a:t>
            </a:r>
            <a:r>
              <a:rPr lang="ru-RU" sz="2000" dirty="0" err="1"/>
              <a:t>переваги</a:t>
            </a:r>
            <a:r>
              <a:rPr lang="ru-RU" sz="2000" dirty="0"/>
              <a:t> та </a:t>
            </a:r>
            <a:r>
              <a:rPr lang="ru-RU" sz="2000" dirty="0" err="1"/>
              <a:t>недоліки</a:t>
            </a:r>
            <a:r>
              <a:rPr lang="ru-RU" sz="2000" dirty="0"/>
              <a:t>, </a:t>
            </a:r>
            <a:r>
              <a:rPr lang="ru-RU" sz="2000" dirty="0" err="1"/>
              <a:t>що</a:t>
            </a:r>
            <a:r>
              <a:rPr lang="ru-RU" sz="2000" dirty="0"/>
              <a:t> дозволило </a:t>
            </a:r>
            <a:r>
              <a:rPr lang="ru-RU" sz="2000" dirty="0" err="1"/>
              <a:t>сформулювати</a:t>
            </a:r>
            <a:r>
              <a:rPr lang="ru-RU" sz="2000" dirty="0"/>
              <a:t> </a:t>
            </a:r>
            <a:r>
              <a:rPr lang="ru-RU" sz="2000" dirty="0" err="1"/>
              <a:t>вимоги</a:t>
            </a:r>
            <a:r>
              <a:rPr lang="ru-RU" sz="2000" dirty="0"/>
              <a:t> до </a:t>
            </a:r>
            <a:r>
              <a:rPr lang="ru-RU" sz="2000" dirty="0" err="1"/>
              <a:t>власного</a:t>
            </a:r>
            <a:r>
              <a:rPr lang="ru-RU" sz="2000" dirty="0"/>
              <a:t> </a:t>
            </a:r>
            <a:r>
              <a:rPr lang="ru-RU" sz="2000" dirty="0" err="1"/>
              <a:t>застосунку</a:t>
            </a:r>
            <a:r>
              <a:rPr lang="ru-RU" sz="2000" dirty="0"/>
              <a:t> з </a:t>
            </a:r>
            <a:r>
              <a:rPr lang="ru-RU" sz="2000" dirty="0" err="1"/>
              <a:t>урахуванням</a:t>
            </a:r>
            <a:r>
              <a:rPr lang="ru-RU" sz="2000" dirty="0"/>
              <a:t> </a:t>
            </a:r>
            <a:r>
              <a:rPr lang="ru-RU" sz="2000" dirty="0" err="1" smtClean="0"/>
              <a:t>специфіки</a:t>
            </a:r>
            <a:r>
              <a:rPr lang="ru-RU" sz="2000" dirty="0" smtClean="0"/>
              <a:t> </a:t>
            </a:r>
            <a:r>
              <a:rPr lang="ru-RU" sz="2000" dirty="0"/>
              <a:t>локального </a:t>
            </a:r>
            <a:r>
              <a:rPr lang="ru-RU" sz="2000" dirty="0" err="1"/>
              <a:t>зберігання</a:t>
            </a:r>
            <a:r>
              <a:rPr lang="ru-RU" sz="2000" dirty="0"/>
              <a:t> </a:t>
            </a:r>
            <a:r>
              <a:rPr lang="ru-RU" sz="2000" dirty="0" err="1"/>
              <a:t>даних</a:t>
            </a:r>
            <a:r>
              <a:rPr lang="ru-RU" sz="2000" dirty="0"/>
              <a:t> та </a:t>
            </a:r>
            <a:r>
              <a:rPr lang="ru-RU" sz="2000" dirty="0" err="1"/>
              <a:t>конфіденційності</a:t>
            </a:r>
            <a:r>
              <a:rPr lang="ru-RU" sz="2000" dirty="0" smtClean="0"/>
              <a:t>.</a:t>
            </a:r>
            <a:endParaRPr lang="ru-RU" sz="2000" dirty="0"/>
          </a:p>
          <a:p>
            <a:pPr marL="0" indent="0" algn="just">
              <a:buNone/>
            </a:pPr>
            <a:r>
              <a:rPr lang="ru-RU" sz="2000" dirty="0" err="1"/>
              <a:t>Вдалося</a:t>
            </a:r>
            <a:r>
              <a:rPr lang="ru-RU" sz="2000" dirty="0"/>
              <a:t> </a:t>
            </a:r>
            <a:r>
              <a:rPr lang="ru-RU" sz="2000" dirty="0" err="1"/>
              <a:t>досягти</a:t>
            </a:r>
            <a:r>
              <a:rPr lang="ru-RU" sz="2000" dirty="0"/>
              <a:t> </a:t>
            </a:r>
            <a:r>
              <a:rPr lang="ru-RU" sz="2000" dirty="0" err="1"/>
              <a:t>поєднання</a:t>
            </a:r>
            <a:r>
              <a:rPr lang="ru-RU" sz="2000" dirty="0"/>
              <a:t> </a:t>
            </a:r>
            <a:r>
              <a:rPr lang="ru-RU" sz="2000" dirty="0" err="1"/>
              <a:t>простоти</a:t>
            </a:r>
            <a:r>
              <a:rPr lang="ru-RU" sz="2000" dirty="0"/>
              <a:t> </a:t>
            </a:r>
            <a:r>
              <a:rPr lang="ru-RU" sz="2000" dirty="0" err="1"/>
              <a:t>інтерфейсу</a:t>
            </a:r>
            <a:r>
              <a:rPr lang="ru-RU" sz="2000" dirty="0"/>
              <a:t> з </a:t>
            </a:r>
            <a:r>
              <a:rPr lang="ru-RU" sz="2000" dirty="0"/>
              <a:t>потужною </a:t>
            </a:r>
            <a:r>
              <a:rPr lang="ru-RU" sz="2000" dirty="0" err="1"/>
              <a:t>логікою</a:t>
            </a:r>
            <a:r>
              <a:rPr lang="ru-RU" sz="2000" dirty="0"/>
              <a:t> </a:t>
            </a:r>
            <a:r>
              <a:rPr lang="ru-RU" sz="2000" dirty="0" err="1"/>
              <a:t>обробки</a:t>
            </a:r>
            <a:r>
              <a:rPr lang="ru-RU" sz="2000" dirty="0"/>
              <a:t> </a:t>
            </a:r>
            <a:r>
              <a:rPr lang="ru-RU" sz="2000" dirty="0" err="1"/>
              <a:t>родинних</a:t>
            </a:r>
            <a:r>
              <a:rPr lang="ru-RU" sz="2000" dirty="0"/>
              <a:t> </a:t>
            </a:r>
            <a:r>
              <a:rPr lang="ru-RU" sz="2000" dirty="0" err="1"/>
              <a:t>зв'язків</a:t>
            </a:r>
            <a:r>
              <a:rPr lang="ru-RU" sz="2000" dirty="0"/>
              <a:t> через базу </a:t>
            </a:r>
            <a:r>
              <a:rPr lang="ru-RU" sz="2000" dirty="0" err="1"/>
              <a:t>даних</a:t>
            </a:r>
            <a:r>
              <a:rPr lang="ru-RU" sz="2000" dirty="0"/>
              <a:t> </a:t>
            </a:r>
            <a:r>
              <a:rPr lang="en-US" sz="2000" dirty="0"/>
              <a:t>MS SQL Server</a:t>
            </a:r>
            <a:r>
              <a:rPr lang="ru-RU" sz="2000" dirty="0" smtClean="0"/>
              <a:t>. </a:t>
            </a:r>
            <a:r>
              <a:rPr lang="ru-RU" sz="2000" dirty="0" err="1"/>
              <a:t>Програма</a:t>
            </a:r>
            <a:r>
              <a:rPr lang="ru-RU" sz="2000" dirty="0"/>
              <a:t> </a:t>
            </a:r>
            <a:r>
              <a:rPr lang="ru-RU" sz="2000" dirty="0" err="1"/>
              <a:t>стабільно</a:t>
            </a:r>
            <a:r>
              <a:rPr lang="ru-RU" sz="2000" dirty="0"/>
              <a:t> </a:t>
            </a:r>
            <a:r>
              <a:rPr lang="ru-RU" sz="2000" dirty="0" err="1"/>
              <a:t>працює</a:t>
            </a:r>
            <a:r>
              <a:rPr lang="ru-RU" sz="2000" dirty="0"/>
              <a:t>, </a:t>
            </a:r>
            <a:r>
              <a:rPr lang="ru-RU" sz="2000" dirty="0" err="1"/>
              <a:t>має</a:t>
            </a:r>
            <a:r>
              <a:rPr lang="ru-RU" sz="2000" dirty="0"/>
              <a:t> </a:t>
            </a:r>
            <a:r>
              <a:rPr lang="ru-RU" sz="2000" dirty="0" err="1"/>
              <a:t>простий</a:t>
            </a:r>
            <a:r>
              <a:rPr lang="ru-RU" sz="2000" dirty="0"/>
              <a:t> та </a:t>
            </a:r>
            <a:r>
              <a:rPr lang="ru-RU" sz="2000" dirty="0" err="1"/>
              <a:t>зрозумілий</a:t>
            </a:r>
            <a:r>
              <a:rPr lang="ru-RU" sz="2000" dirty="0"/>
              <a:t> дизайн, а структура </a:t>
            </a:r>
            <a:r>
              <a:rPr lang="ru-RU" sz="2000" dirty="0" err="1"/>
              <a:t>проєкту</a:t>
            </a:r>
            <a:r>
              <a:rPr lang="ru-RU" sz="2000" dirty="0"/>
              <a:t> </a:t>
            </a:r>
            <a:r>
              <a:rPr lang="ru-RU" sz="2000" dirty="0" err="1"/>
              <a:t>побудована</a:t>
            </a:r>
            <a:r>
              <a:rPr lang="ru-RU" sz="2000" dirty="0"/>
              <a:t> </a:t>
            </a:r>
            <a:r>
              <a:rPr lang="ru-RU" sz="2000" dirty="0" err="1"/>
              <a:t>згідно</a:t>
            </a:r>
            <a:r>
              <a:rPr lang="ru-RU" sz="2000" dirty="0"/>
              <a:t> </a:t>
            </a:r>
            <a:r>
              <a:rPr lang="ru-RU" sz="2000" dirty="0" err="1"/>
              <a:t>принципів</a:t>
            </a:r>
            <a:r>
              <a:rPr lang="ru-RU" sz="2000" dirty="0"/>
              <a:t> </a:t>
            </a:r>
            <a:r>
              <a:rPr lang="ru-RU" sz="2000" dirty="0" smtClean="0"/>
              <a:t>ООП </a:t>
            </a:r>
            <a:r>
              <a:rPr lang="ru-RU" sz="2000" dirty="0"/>
              <a:t>та </a:t>
            </a:r>
            <a:r>
              <a:rPr lang="ru-RU" sz="2000" dirty="0" err="1"/>
              <a:t>патерну</a:t>
            </a:r>
            <a:r>
              <a:rPr lang="ru-RU" sz="2000" dirty="0"/>
              <a:t> </a:t>
            </a:r>
            <a:r>
              <a:rPr lang="en-US" sz="2000" dirty="0" smtClean="0"/>
              <a:t>MVVM</a:t>
            </a:r>
            <a:r>
              <a:rPr lang="ru-RU" sz="2000" dirty="0" smtClean="0"/>
              <a:t>, </a:t>
            </a:r>
            <a:r>
              <a:rPr lang="ru-RU" sz="2000" dirty="0" err="1"/>
              <a:t>що</a:t>
            </a:r>
            <a:r>
              <a:rPr lang="ru-RU" sz="2000" dirty="0"/>
              <a:t> </a:t>
            </a:r>
            <a:r>
              <a:rPr lang="ru-RU" sz="2000" dirty="0" err="1"/>
              <a:t>дозволяє</a:t>
            </a:r>
            <a:r>
              <a:rPr lang="ru-RU" sz="2000" dirty="0"/>
              <a:t> легко </a:t>
            </a:r>
            <a:r>
              <a:rPr lang="ru-RU" sz="2000" dirty="0" err="1"/>
              <a:t>підтримувати</a:t>
            </a:r>
            <a:r>
              <a:rPr lang="ru-RU" sz="2000" dirty="0"/>
              <a:t> та </a:t>
            </a:r>
            <a:r>
              <a:rPr lang="ru-RU" sz="2000" dirty="0" err="1"/>
              <a:t>масштабувати</a:t>
            </a:r>
            <a:r>
              <a:rPr lang="ru-RU" sz="2000" dirty="0"/>
              <a:t> </a:t>
            </a:r>
            <a:r>
              <a:rPr lang="ru-RU" sz="2000" dirty="0" err="1"/>
              <a:t>її</a:t>
            </a:r>
            <a:r>
              <a:rPr lang="ru-RU" sz="2000" dirty="0"/>
              <a:t> в </a:t>
            </a:r>
            <a:r>
              <a:rPr lang="ru-RU" sz="2000" dirty="0" err="1"/>
              <a:t>майбутньому</a:t>
            </a:r>
            <a:r>
              <a:rPr lang="ru-RU" sz="2000" dirty="0"/>
              <a:t>.</a:t>
            </a:r>
          </a:p>
          <a:p>
            <a:pPr marL="0" indent="0" algn="just">
              <a:buNone/>
            </a:pPr>
            <a:r>
              <a:rPr lang="en-US" sz="2000" dirty="0" err="1"/>
              <a:t>MyGrampApp</a:t>
            </a:r>
            <a:r>
              <a:rPr lang="en-US" sz="2000" dirty="0"/>
              <a:t> </a:t>
            </a:r>
            <a:r>
              <a:rPr lang="ru-RU" sz="2000" dirty="0" err="1"/>
              <a:t>може</a:t>
            </a:r>
            <a:r>
              <a:rPr lang="ru-RU" sz="2000" dirty="0"/>
              <a:t> бути </a:t>
            </a:r>
            <a:r>
              <a:rPr lang="ru-RU" sz="2000" dirty="0" err="1"/>
              <a:t>корисною</a:t>
            </a:r>
            <a:r>
              <a:rPr lang="ru-RU" sz="2000" dirty="0"/>
              <a:t> для </a:t>
            </a:r>
            <a:r>
              <a:rPr lang="ru-RU" sz="2000" dirty="0" err="1"/>
              <a:t>користувачів</a:t>
            </a:r>
            <a:r>
              <a:rPr lang="ru-RU" sz="2000" dirty="0"/>
              <a:t>, </a:t>
            </a:r>
            <a:r>
              <a:rPr lang="ru-RU" sz="2000" dirty="0" err="1"/>
              <a:t>які</a:t>
            </a:r>
            <a:r>
              <a:rPr lang="ru-RU" sz="2000" dirty="0"/>
              <a:t> </a:t>
            </a:r>
            <a:r>
              <a:rPr lang="ru-RU" sz="2000" dirty="0" err="1"/>
              <a:t>прагнуть</a:t>
            </a:r>
            <a:r>
              <a:rPr lang="ru-RU" sz="2000" dirty="0"/>
              <a:t> </a:t>
            </a:r>
            <a:r>
              <a:rPr lang="ru-RU" sz="2000" dirty="0" err="1"/>
              <a:t>систематизувати</a:t>
            </a:r>
            <a:r>
              <a:rPr lang="ru-RU" sz="2000" dirty="0"/>
              <a:t> </a:t>
            </a:r>
            <a:r>
              <a:rPr lang="ru-RU" sz="2000" dirty="0" err="1"/>
              <a:t>історію</a:t>
            </a:r>
            <a:r>
              <a:rPr lang="ru-RU" sz="2000" dirty="0"/>
              <a:t> </a:t>
            </a:r>
            <a:r>
              <a:rPr lang="ru-RU" sz="2000" dirty="0" err="1"/>
              <a:t>своєї</a:t>
            </a:r>
            <a:r>
              <a:rPr lang="ru-RU" sz="2000" dirty="0"/>
              <a:t> </a:t>
            </a:r>
            <a:r>
              <a:rPr lang="ru-RU" sz="2000" dirty="0" err="1"/>
              <a:t>родини</a:t>
            </a:r>
            <a:r>
              <a:rPr lang="ru-RU" sz="2000" dirty="0"/>
              <a:t>, </a:t>
            </a:r>
            <a:r>
              <a:rPr lang="ru-RU" sz="2000" dirty="0" err="1"/>
              <a:t>забезпечуючи</a:t>
            </a:r>
            <a:r>
              <a:rPr lang="ru-RU" sz="2000" dirty="0"/>
              <a:t> при </a:t>
            </a:r>
            <a:r>
              <a:rPr lang="ru-RU" sz="2000" dirty="0" err="1"/>
              <a:t>цьому</a:t>
            </a:r>
            <a:r>
              <a:rPr lang="ru-RU" sz="2000" dirty="0"/>
              <a:t> </a:t>
            </a:r>
            <a:r>
              <a:rPr lang="ru-RU" sz="2000" dirty="0" err="1"/>
              <a:t>надійний</a:t>
            </a:r>
            <a:r>
              <a:rPr lang="ru-RU" sz="2000" dirty="0"/>
              <a:t> контроль </a:t>
            </a:r>
            <a:r>
              <a:rPr lang="ru-RU" sz="2000" dirty="0" err="1"/>
              <a:t>цілісності</a:t>
            </a:r>
            <a:r>
              <a:rPr lang="ru-RU" sz="2000" dirty="0"/>
              <a:t> </a:t>
            </a:r>
            <a:r>
              <a:rPr lang="ru-RU" sz="2000" dirty="0" err="1"/>
              <a:t>даних</a:t>
            </a:r>
            <a:r>
              <a:rPr lang="ru-RU" sz="2000" dirty="0"/>
              <a:t> без </a:t>
            </a:r>
            <a:r>
              <a:rPr lang="ru-RU" sz="2000" dirty="0" err="1"/>
              <a:t>використання</a:t>
            </a:r>
            <a:r>
              <a:rPr lang="ru-RU" sz="2000" dirty="0"/>
              <a:t> </a:t>
            </a:r>
            <a:r>
              <a:rPr lang="ru-RU" sz="2000" dirty="0" err="1"/>
              <a:t>складних</a:t>
            </a:r>
            <a:r>
              <a:rPr lang="ru-RU" sz="2000" dirty="0"/>
              <a:t> </a:t>
            </a:r>
            <a:r>
              <a:rPr lang="ru-RU" sz="2000" dirty="0" err="1"/>
              <a:t>хмарних</a:t>
            </a:r>
            <a:r>
              <a:rPr lang="ru-RU" sz="2000" dirty="0"/>
              <a:t> </a:t>
            </a:r>
            <a:r>
              <a:rPr lang="ru-RU" sz="2000" dirty="0" err="1"/>
              <a:t>сервісів</a:t>
            </a:r>
            <a:r>
              <a:rPr lang="ru-RU" sz="2000" dirty="0" smtClean="0"/>
              <a:t>.</a:t>
            </a:r>
            <a:endParaRPr lang="ru-RU" sz="2000" dirty="0"/>
          </a:p>
          <a:p>
            <a:pPr marL="0" indent="0">
              <a:buNone/>
            </a:pPr>
            <a:endParaRPr lang="ru-RU" sz="1800" dirty="0"/>
          </a:p>
        </p:txBody>
      </p:sp>
    </p:spTree>
    <p:extLst>
      <p:ext uri="{BB962C8B-B14F-4D97-AF65-F5344CB8AC3E}">
        <p14:creationId xmlns:p14="http://schemas.microsoft.com/office/powerpoint/2010/main" val="930520149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Житомирська політехніка">
      <a:dk1>
        <a:srgbClr val="224D83"/>
      </a:dk1>
      <a:lt1>
        <a:sysClr val="window" lastClr="FFFFFF"/>
      </a:lt1>
      <a:dk2>
        <a:srgbClr val="FFFFFF"/>
      </a:dk2>
      <a:lt2>
        <a:srgbClr val="224D83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Житомирська політехніка">
      <a:majorFont>
        <a:latin typeface="Montserrat ExtraBold"/>
        <a:ea typeface=""/>
        <a:cs typeface=""/>
      </a:majorFont>
      <a:minorFont>
        <a:latin typeface="Montserra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851</TotalTime>
  <Words>617</Words>
  <Application>Microsoft Office PowerPoint</Application>
  <PresentationFormat>Произвольный</PresentationFormat>
  <Paragraphs>60</Paragraphs>
  <Slides>9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0" baseType="lpstr">
      <vt:lpstr>Тема Office</vt:lpstr>
      <vt:lpstr>База даних родинного дерева</vt:lpstr>
      <vt:lpstr>МЕТА, ОБ’ЄКТ, ПРЕДМЕТ ДОСЛІДЖЕННЯ</vt:lpstr>
      <vt:lpstr>АКТУАЛЬНІСТЬ ТЕМИ</vt:lpstr>
      <vt:lpstr>ВИКОРИСТАНІ ТЕХНОЛОГІЇ</vt:lpstr>
      <vt:lpstr>АНАЛІЗ АНАЛОГІВ</vt:lpstr>
      <vt:lpstr>АНАЛІЗ АНАЛОГІВ</vt:lpstr>
      <vt:lpstr>АНАЛІЗ АНАЛОГІВ</vt:lpstr>
      <vt:lpstr>Діаграма бази даних</vt:lpstr>
      <vt:lpstr>ВИСНОВКИ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Презентація PowerPoint</dc:title>
  <dc:creator>Новосьолов Іван Володимирович</dc:creator>
  <cp:lastModifiedBy>Sergiy Sergiy</cp:lastModifiedBy>
  <cp:revision>22</cp:revision>
  <dcterms:created xsi:type="dcterms:W3CDTF">2023-01-12T09:20:21Z</dcterms:created>
  <dcterms:modified xsi:type="dcterms:W3CDTF">2026-01-21T09:39:44Z</dcterms:modified>
</cp:coreProperties>
</file>